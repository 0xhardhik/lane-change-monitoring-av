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" cy="4114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914400"/>
            <a:ext cx="5303520" cy="411480"/>
          </a:xfrm>
          <a:prstGeom prst="roundRect">
            <a:avLst/>
          </a:prstGeom>
          <a:solidFill>
            <a:srgbClr val="233554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E0F2FE"/>
                </a:solidFill>
              </a:defRPr>
            </a:pPr>
            <a:r>
              <a:t>COURSE: 24CSE473 - NEURAL NETWORKS AND DEEP LEARNING | MILESTONE 3: FINAL PROJECT DEFENSE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Monitoring Lane Changes in Autonomous Vehicles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Calibri"/>
              </a:defRPr>
            </a:pPr>
            <a:r>
              <a:t>A Hybrid End-to-End Vision Pilot Framework with CNN-LSTM Intention Prediction &amp; Trajectory Safety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931920"/>
            <a:ext cx="9875520" cy="137160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Candidate: Hardhik A  |  Roll Number: CH.SC.U4CSE23114</a:t>
            </a:r>
          </a:p>
          <a:p>
            <a:pPr>
              <a:defRPr sz="1200">
                <a:solidFill>
                  <a:srgbClr val="E0F2FE"/>
                </a:solidFill>
                <a:latin typeface="Calibri"/>
              </a:defRPr>
            </a:pPr>
            <a:r>
              <a:t>Department of Computer Science &amp; Engineering, Amrita Vishwa Vidyapeetham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Evaluation Domain: Vision Pilot Hybrid End-to-End AI &amp; Deep Spatio-Temporal 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94360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Amrita Vishwa Vidyapeetham — Academic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PROBLEM CONTEXT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Executive Introduction — The Critical Need for Lane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2 of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Highway Safety Imperative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High Collision Incidence: </a:t>
            </a:r>
            <a:r>
              <a:rPr sz="950">
                <a:solidFill>
                  <a:srgbClr val="1E293B"/>
                </a:solidFill>
                <a:latin typeface="Calibri"/>
              </a:rPr>
              <a:t>National highway safety databases reveal that 45%+ of multi-vehicle crashes and 72% of autonomous vehicle safety disengagements occur during lane changing.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Extreme Kinematic Speeds: </a:t>
            </a:r>
            <a:r>
              <a:rPr sz="950">
                <a:solidFill>
                  <a:srgbClr val="1E293B"/>
                </a:solidFill>
                <a:latin typeface="Calibri"/>
              </a:rPr>
              <a:t>On high-speed expressways (80–120 km/h), a vehicle traverses 25 to 33 meters per second, leaving razor-thin margins for intervention.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Blind Spots &amp; Inattention: </a:t>
            </a:r>
            <a:r>
              <a:rPr sz="950">
                <a:solidFill>
                  <a:srgbClr val="1E293B"/>
                </a:solidFill>
                <a:latin typeface="Calibri"/>
              </a:rPr>
              <a:t>Human blind spots, sudden swerves without signaling, and distracted mobile usage represent the leading causes of fatal side-swipe collisions.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98848" y="1298448"/>
            <a:ext cx="54864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The Perception-Prediction Gap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Current ADAS Limitation: </a:t>
            </a:r>
            <a:r>
              <a:rPr sz="950">
                <a:solidFill>
                  <a:srgbClr val="1E293B"/>
                </a:solidFill>
                <a:latin typeface="Calibri"/>
              </a:rPr>
              <a:t>Production ADAS packages (e.g. basic radar/camera ACC) operate reactively; they detect a car only after it enters the host lane.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Late Braking Jerks: </a:t>
            </a:r>
            <a:r>
              <a:rPr sz="950">
                <a:solidFill>
                  <a:srgbClr val="1E293B"/>
                </a:solidFill>
                <a:latin typeface="Calibri"/>
              </a:rPr>
              <a:t>Reaction time under 0.6 seconds forces sharp 0.8g emergency braking, inducing panic and causing rear-end chain collisions.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Phantom Braking Nuisance: </a:t>
            </a:r>
            <a:r>
              <a:rPr sz="950">
                <a:solidFill>
                  <a:srgbClr val="1E293B"/>
                </a:solidFill>
                <a:latin typeface="Calibri"/>
              </a:rPr>
              <a:t>Over-reactive heuristic sensors falsely slam brakes on adjacent curve traffic, annoying drivers and degrading user trust.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The Solution: </a:t>
            </a:r>
            <a:r>
              <a:rPr sz="950">
                <a:solidFill>
                  <a:srgbClr val="1E293B"/>
                </a:solidFill>
                <a:latin typeface="Calibri"/>
              </a:rPr>
              <a:t>Proactive deep learning intention estimation giving 1.8+ seconds of advance warning lead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29844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Core Project Contributions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Vision Pilot Hybrid AI: </a:t>
            </a:r>
            <a:r>
              <a:rPr sz="950">
                <a:solidFill>
                  <a:srgbClr val="1E293B"/>
                </a:solidFill>
                <a:latin typeface="Calibri"/>
              </a:rPr>
              <a:t>Camera-first, mapless perception combining raw spatial deep feature extraction with temporal sequence reasoning.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Custom CNN-LSTM Intention Layer: </a:t>
            </a:r>
            <a:r>
              <a:rPr sz="950">
                <a:solidFill>
                  <a:srgbClr val="1E293B"/>
                </a:solidFill>
                <a:latin typeface="Calibri"/>
              </a:rPr>
              <a:t>Classifies surrounding driver intent into Keep, Cut-in Left, or Cut-in Right with 94.8% accuracy.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Physics-Informed Safety Layer: </a:t>
            </a:r>
            <a:r>
              <a:rPr sz="950">
                <a:solidFill>
                  <a:srgbClr val="1E293B"/>
                </a:solidFill>
                <a:latin typeface="Calibri"/>
              </a:rPr>
              <a:t>Real-time dynamic Time-to-Collision (TTC) and lateral velocity gating preventing black-box hallucinations.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Faculty Demonstration Suite: </a:t>
            </a:r>
            <a:r>
              <a:rPr sz="950">
                <a:solidFill>
                  <a:srgbClr val="1E293B"/>
                </a:solidFill>
                <a:latin typeface="Calibri"/>
              </a:rPr>
              <a:t>Live, interactive 60 FPS OpenCV dashboard with synthetic multi-lane highway scenarios and real-time telemetry.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THEORETICAL FOUNDATIONS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Research Background &amp; Autonomous Driving Taxonomy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3 of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4846320" cy="22768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Evolution of Autonomous Driving (SAE L2 to L4)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SAE Level 2 (Driver Support): </a:t>
            </a:r>
            <a:r>
              <a:rPr sz="950">
                <a:solidFill>
                  <a:srgbClr val="1E293B"/>
                </a:solidFill>
                <a:latin typeface="Calibri"/>
              </a:rPr>
              <a:t>Driver remains continuously responsible; vehicle executes simultaneous steering and acceleration (LKAS + ACC).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SAE Level 3 (Conditional Automation): </a:t>
            </a:r>
            <a:r>
              <a:rPr sz="950">
                <a:solidFill>
                  <a:srgbClr val="1E293B"/>
                </a:solidFill>
                <a:latin typeface="Calibri"/>
              </a:rPr>
              <a:t>Vehicle handles dynamic driving task in highway traffic jams, but requires driver takeover within 5 seconds.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SAE Level 4 (High Automation): </a:t>
            </a:r>
            <a:r>
              <a:rPr sz="950">
                <a:solidFill>
                  <a:srgbClr val="1E293B"/>
                </a:solidFill>
                <a:latin typeface="Calibri"/>
              </a:rPr>
              <a:t>System operates autonomously within specific operational design domains (ODD) without human intervention fallback.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Our Target: </a:t>
            </a:r>
            <a:r>
              <a:rPr sz="950">
                <a:solidFill>
                  <a:srgbClr val="1E293B"/>
                </a:solidFill>
                <a:latin typeface="Calibri"/>
              </a:rPr>
              <a:t>Elevates Level 2+ / Level 3 systems by providing proactive intention foresight, preventing abrupt takeover requests.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18872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7823" y="1298448"/>
            <a:ext cx="54864" cy="2743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6695" y="1261872"/>
            <a:ext cx="4846320" cy="22768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Algorithmic Paradigm Shift in ADAS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1st Gen: </a:t>
            </a:r>
            <a:r>
              <a:rPr sz="950">
                <a:solidFill>
                  <a:srgbClr val="1E293B"/>
                </a:solidFill>
                <a:latin typeface="Calibri"/>
              </a:rPr>
              <a:t>Handcrafted Rule-Based: Fixed distance headway thresholds (Vogel 2003, MOBIL); fails in dynamic multi-agent interaction.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2nd Gen: </a:t>
            </a:r>
            <a:r>
              <a:rPr sz="950">
                <a:solidFill>
                  <a:srgbClr val="1E293B"/>
                </a:solidFill>
                <a:latin typeface="Calibri"/>
              </a:rPr>
              <a:t>Kinematic State Estimation: Kalman filtering (EKF) and particle filters; tracks motion but cannot predict behavioral intent.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3rd Gen: </a:t>
            </a:r>
            <a:r>
              <a:rPr sz="950">
                <a:solidFill>
                  <a:srgbClr val="1E293B"/>
                </a:solidFill>
                <a:latin typeface="Calibri"/>
              </a:rPr>
              <a:t>Spatial Deep Learning: YOLOv5/v8, Mask R-CNN; detects bounding boxes accurately but lacks temporal sequence memory.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4th Gen (Proposed): </a:t>
            </a:r>
            <a:r>
              <a:rPr sz="950">
                <a:solidFill>
                  <a:srgbClr val="1E293B"/>
                </a:solidFill>
                <a:latin typeface="Calibri"/>
              </a:rPr>
              <a:t>Spatio-Temporal Hybrid AI: Combines spatial feature backbones with recurrent LSTM reasoning and kinematic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390448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67912"/>
            <a:ext cx="4846320" cy="22768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The Sensor Modality Debate (LiDAR vs Vision)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LiDAR Constraints: </a:t>
            </a:r>
            <a:r>
              <a:rPr sz="950">
                <a:solidFill>
                  <a:srgbClr val="1E293B"/>
                </a:solidFill>
                <a:latin typeface="Calibri"/>
              </a:rPr>
              <a:t>Multi-beam spinning LiDAR units cost $8,000–$25,000, require bulky rooftop housing, and degrade severely in heavy rain and fog.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Vision Advantages: </a:t>
            </a:r>
            <a:r>
              <a:rPr sz="950">
                <a:solidFill>
                  <a:srgbClr val="1E293B"/>
                </a:solidFill>
                <a:latin typeface="Calibri"/>
              </a:rPr>
              <a:t>High-definition automotive CMOS sensors cost &lt;$150, provide dense color texture, read lane markings, and detect subtle wheel yaw.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The Vision Pilot Paradigm: </a:t>
            </a:r>
            <a:r>
              <a:rPr sz="950">
                <a:solidFill>
                  <a:srgbClr val="1E293B"/>
                </a:solidFill>
                <a:latin typeface="Calibri"/>
              </a:rPr>
              <a:t>Demonstrates that deep spatio-temporal representations can achieve LiDAR-level safety using monocular camera streams.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8095" y="379476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7823" y="3904488"/>
            <a:ext cx="54864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6695" y="3867912"/>
            <a:ext cx="4846320" cy="22768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Edge Hardware &amp; Latency Mandates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Automotive Compute Envelope: </a:t>
            </a:r>
            <a:r>
              <a:rPr sz="950">
                <a:solidFill>
                  <a:srgbClr val="1E293B"/>
                </a:solidFill>
                <a:latin typeface="Calibri"/>
              </a:rPr>
              <a:t>Production vehicle electronic control units (ECUs) operate under strict thermal constraints (15W - 30W).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Real-Time Deadline: </a:t>
            </a:r>
            <a:r>
              <a:rPr sz="950">
                <a:solidFill>
                  <a:srgbClr val="1E293B"/>
                </a:solidFill>
                <a:latin typeface="Calibri"/>
              </a:rPr>
              <a:t>At 100 km/h, a 100ms latency delay corresponds to 2.8 meters of blind travel. Safety systems must execute within &lt;=25ms.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Optimized Architecture: </a:t>
            </a:r>
            <a:r>
              <a:rPr sz="950">
                <a:solidFill>
                  <a:srgbClr val="1E293B"/>
                </a:solidFill>
                <a:latin typeface="Calibri"/>
              </a:rPr>
              <a:t>Our lightweight MobileNet-BiLSTM model achieves 16.4ms inference on embedded GPUs, enabling 60 FPS real-time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FORMAL SPECIFICATION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Formal Problem Statement, Objectives &amp; Operational Constraints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4 of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107286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10362895" cy="186537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Formal Mathematical Problem Definition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Input Temporal Sequence: </a:t>
            </a:r>
            <a:r>
              <a:rPr sz="950">
                <a:solidFill>
                  <a:srgbClr val="1E293B"/>
                </a:solidFill>
                <a:latin typeface="Calibri"/>
              </a:rPr>
              <a:t>Given a sequence of monocular camera frames F_{t-T:t} over a rolling history window of T frames (T = 30, dt = 33ms, history = 1.0s).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Latent Feature Tokenization: </a:t>
            </a:r>
            <a:r>
              <a:rPr sz="950">
                <a:solidFill>
                  <a:srgbClr val="1E293B"/>
                </a:solidFill>
                <a:latin typeface="Calibri"/>
              </a:rPr>
              <a:t>Spatial backbone extracts per-vehicle feature tokens z_t = f_CNN(ROI_t, bbox_t) where z_t in R^128.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Temporal Sequence Encoding: </a:t>
            </a:r>
            <a:r>
              <a:rPr sz="950">
                <a:solidFill>
                  <a:srgbClr val="1E293B"/>
                </a:solidFill>
                <a:latin typeface="Calibri"/>
              </a:rPr>
              <a:t>Bi-directional LSTM computes forward and backward hidden representations h_t = [h_forward; h_backward] over sequence Z = {z_1, ..., z_T}.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Maneuver Classification: </a:t>
            </a:r>
            <a:r>
              <a:rPr sz="950">
                <a:solidFill>
                  <a:srgbClr val="1E293B"/>
                </a:solidFill>
                <a:latin typeface="Calibri"/>
              </a:rPr>
              <a:t>Predict driver intention probability distribution P(I | F) = Softmax(W h_T + b) where I in {Keep Lane (0), Cut-in Left (1), Cut-in Right (2)}.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Safety Envelope Constraint: </a:t>
            </a:r>
            <a:r>
              <a:rPr sz="950">
                <a:solidFill>
                  <a:srgbClr val="1E293B"/>
                </a:solidFill>
                <a:latin typeface="Calibri"/>
              </a:rPr>
              <a:t>Trigger proactive ADAS alert if and only if: (P(Cut-in) &gt;= theta_prob) AND (TTC &lt;= TTC_crit OR TLC &lt;= TLC_crit) with lead time tau &gt;= 1.8s.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521208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53872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02152"/>
            <a:ext cx="4846320" cy="264261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Key Optimization Objectives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Objective 1: </a:t>
            </a:r>
            <a:r>
              <a:rPr sz="950">
                <a:solidFill>
                  <a:srgbClr val="1E293B"/>
                </a:solidFill>
                <a:latin typeface="Calibri"/>
              </a:rPr>
              <a:t>Maximize Intention Prediction Lead Time (tau &gt;= 1.8s prior to tire touching lane delimiter line).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Objective 2: </a:t>
            </a:r>
            <a:r>
              <a:rPr sz="950">
                <a:solidFill>
                  <a:srgbClr val="1E293B"/>
                </a:solidFill>
                <a:latin typeface="Calibri"/>
              </a:rPr>
              <a:t>Minimize False Positive Rate (&lt; 4.5%) to eliminate nuisance phantom braking and driver fatigue.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Objective 3: </a:t>
            </a:r>
            <a:r>
              <a:rPr sz="950">
                <a:solidFill>
                  <a:srgbClr val="1E293B"/>
                </a:solidFill>
                <a:latin typeface="Calibri"/>
              </a:rPr>
              <a:t>Bounded Real-Time Latency (Inference latency &lt;= 20ms to allow deterministic 50+ FPS operation).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Objective 4: </a:t>
            </a:r>
            <a:r>
              <a:rPr sz="950">
                <a:solidFill>
                  <a:srgbClr val="1E293B"/>
                </a:solidFill>
                <a:latin typeface="Calibri"/>
              </a:rPr>
              <a:t>Cross-Entropy Loss Optimization: L_total = L_classification(I, I_hat) + lambda * L_kinematic_smoothness.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3429000"/>
            <a:ext cx="521208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7823" y="3538728"/>
            <a:ext cx="54864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6695" y="3502152"/>
            <a:ext cx="4846320" cy="264261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Operational Constraints &amp; Failure Boundaries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Sensor Constraint: </a:t>
            </a:r>
            <a:r>
              <a:rPr sz="950">
                <a:solidFill>
                  <a:srgbClr val="1E293B"/>
                </a:solidFill>
                <a:latin typeface="Calibri"/>
              </a:rPr>
              <a:t>Monocular RGB forward-facing camera only (no LiDAR, no radar distance hints).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Mapless Requirement: </a:t>
            </a:r>
            <a:r>
              <a:rPr sz="950">
                <a:solidFill>
                  <a:srgbClr val="1E293B"/>
                </a:solidFill>
                <a:latin typeface="Calibri"/>
              </a:rPr>
              <a:t>Operates entirely without pre-surveyed HD lane maps or GPS localization.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Heterogeneous Traffic: </a:t>
            </a:r>
            <a:r>
              <a:rPr sz="950">
                <a:solidFill>
                  <a:srgbClr val="1E293B"/>
                </a:solidFill>
                <a:latin typeface="Calibri"/>
              </a:rPr>
              <a:t>Must generalize across sedans, SUVs, trucks, and auto-rickshaws with varied aspect ratios.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Environmental Bounds: </a:t>
            </a:r>
            <a:r>
              <a:rPr sz="950">
                <a:solidFill>
                  <a:srgbClr val="1E293B"/>
                </a:solidFill>
                <a:latin typeface="Calibri"/>
              </a:rPr>
              <a:t>Operates across daytime clear, overcast, twilight, and rain-slicked roadway surfaces.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VALUE PROPOSITION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Project Motivation — Societal &amp; Autonomous Safety Imperatives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5 of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1. Mitigating Fatal Collisions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Global Fatality Toll: </a:t>
            </a:r>
            <a:r>
              <a:rPr sz="950">
                <a:solidFill>
                  <a:srgbClr val="1E293B"/>
                </a:solidFill>
                <a:latin typeface="Calibri"/>
              </a:rPr>
              <a:t>WHO reports 1.35 million annual road traffic deaths; lane-change and overtaking maneuvers constitute 32% of highway fatalities.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Eliminating Blind-Spot Tragedies: </a:t>
            </a:r>
            <a:r>
              <a:rPr sz="950">
                <a:solidFill>
                  <a:srgbClr val="1E293B"/>
                </a:solidFill>
                <a:latin typeface="Calibri"/>
              </a:rPr>
              <a:t>Heavy commercial trucks have massive lateral blind zones; our system alerts ego vehicles to unsafe truck drift before side-swipe contact.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Chain Collision Prevention: </a:t>
            </a:r>
            <a:r>
              <a:rPr sz="950">
                <a:solidFill>
                  <a:srgbClr val="1E293B"/>
                </a:solidFill>
                <a:latin typeface="Calibri"/>
              </a:rPr>
              <a:t>Early smooth regenerative deceleration gives trailing vehicles ample time to brake gently, preventing high-speed rear-end pileups.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98848" y="129844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2. Passenger Ride Comfort &amp; Trust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Combating Phantom Braking: </a:t>
            </a:r>
            <a:r>
              <a:rPr sz="950">
                <a:solidFill>
                  <a:srgbClr val="1E293B"/>
                </a:solidFill>
                <a:latin typeface="Calibri"/>
              </a:rPr>
              <a:t>64% of ADAS users disable ACC due to sudden phantom stops; our dual-gated safety check eliminates false alarm braking jerks.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Smooth Headway Regulation: </a:t>
            </a:r>
            <a:r>
              <a:rPr sz="950">
                <a:solidFill>
                  <a:srgbClr val="1E293B"/>
                </a:solidFill>
                <a:latin typeface="Calibri"/>
              </a:rPr>
              <a:t>Transitioning from binary on/off braking to gradual 0.15g throttle rollbacks mimics experienced human defensive driving.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Explainable HMI Telemetry: </a:t>
            </a:r>
            <a:r>
              <a:rPr sz="950">
                <a:solidFill>
                  <a:srgbClr val="1E293B"/>
                </a:solidFill>
                <a:latin typeface="Calibri"/>
              </a:rPr>
              <a:t>Heads-Up Display communicates exact system reasoning ('Target Cut-In Left: TTC 2.4s'), building driver trust and situational awareness.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29844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3. Regulatory &amp; Economic Alignment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Euro NCAP 2026 Protocol: </a:t>
            </a:r>
            <a:r>
              <a:rPr sz="950">
                <a:solidFill>
                  <a:srgbClr val="1E293B"/>
                </a:solidFill>
                <a:latin typeface="Calibri"/>
              </a:rPr>
              <a:t>Enforces mandatory safety assessment for Cut-In and Turn-Across-Path collision mitigation systems.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MoRTH 2026/2027 India Directives: </a:t>
            </a:r>
            <a:r>
              <a:rPr sz="950">
                <a:solidFill>
                  <a:srgbClr val="1E293B"/>
                </a:solidFill>
                <a:latin typeface="Calibri"/>
              </a:rPr>
              <a:t>Phased introduction of mandatory ADAS in commercial and passenger vehicles on Indian national expressways.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ISO 26262 ASIL-B Certification: </a:t>
            </a:r>
            <a:r>
              <a:rPr sz="950">
                <a:solidFill>
                  <a:srgbClr val="1E293B"/>
                </a:solidFill>
                <a:latin typeface="Calibri"/>
              </a:rPr>
              <a:t>Our modular decoupling of neural classification from deterministic trajectory safety bounds fulfills automotive functional safety criteria.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SCOPE &amp; DELIVERABLES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Project Scope, Specific Objectives &amp; Key Deliverables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6 of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280160"/>
            <a:ext cx="2286000" cy="128016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2600" b="1">
                <a:solidFill>
                  <a:srgbClr val="16A34A"/>
                </a:solidFill>
                <a:latin typeface="Calibri"/>
              </a:defRPr>
            </a:pPr>
            <a:r>
              <a:t>&gt;= 1.8 s</a:t>
            </a:r>
          </a:p>
          <a:p>
            <a:pPr>
              <a:defRPr sz="1050" b="1">
                <a:solidFill>
                  <a:srgbClr val="0A192F"/>
                </a:solidFill>
                <a:latin typeface="Calibri"/>
              </a:defRPr>
            </a:pPr>
            <a:r>
              <a:t>Prediction Lead Time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Advance warning prior to line crossing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18872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280160"/>
            <a:ext cx="2286000" cy="128016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2600" b="1">
                <a:solidFill>
                  <a:srgbClr val="0284C7"/>
                </a:solidFill>
                <a:latin typeface="Calibri"/>
              </a:defRPr>
            </a:pPr>
            <a:r>
              <a:t>94.8 %</a:t>
            </a:r>
          </a:p>
          <a:p>
            <a:pPr>
              <a:defRPr sz="1050" b="1">
                <a:solidFill>
                  <a:srgbClr val="0A192F"/>
                </a:solidFill>
                <a:latin typeface="Calibri"/>
              </a:defRPr>
            </a:pPr>
            <a:r>
              <a:t>Intent Accuracy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Overall 3-class classification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4688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80160"/>
            <a:ext cx="2286000" cy="128016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2600" b="1">
                <a:solidFill>
                  <a:srgbClr val="16A34A"/>
                </a:solidFill>
                <a:latin typeface="Calibri"/>
              </a:defRPr>
            </a:pPr>
            <a:r>
              <a:t>&lt; 20 ms</a:t>
            </a:r>
          </a:p>
          <a:p>
            <a:pPr>
              <a:defRPr sz="1050" b="1">
                <a:solidFill>
                  <a:srgbClr val="0A192F"/>
                </a:solidFill>
                <a:latin typeface="Calibri"/>
              </a:defRPr>
            </a:pPr>
            <a:r>
              <a:t>Inference Latency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Deterministic real-time execution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188720"/>
            <a:ext cx="24990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280160"/>
            <a:ext cx="2316175" cy="128016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2600" b="1">
                <a:solidFill>
                  <a:srgbClr val="D97706"/>
                </a:solidFill>
                <a:latin typeface="Calibri"/>
              </a:defRPr>
            </a:pPr>
            <a:r>
              <a:t>&lt; 4.5 %</a:t>
            </a:r>
          </a:p>
          <a:p>
            <a:pPr>
              <a:defRPr sz="1050" b="1">
                <a:solidFill>
                  <a:srgbClr val="0A192F"/>
                </a:solidFill>
                <a:latin typeface="Calibri"/>
              </a:defRPr>
            </a:pPr>
            <a:r>
              <a:t>False Positive Rate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Prevents phantom braking events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880360"/>
            <a:ext cx="52120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" y="299008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2953512"/>
            <a:ext cx="4846320" cy="31912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Detailed System Scope Boundaries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Target Roadway Environments: </a:t>
            </a:r>
            <a:r>
              <a:rPr sz="950">
                <a:solidFill>
                  <a:srgbClr val="1E293B"/>
                </a:solidFill>
                <a:latin typeface="Calibri"/>
              </a:rPr>
              <a:t>Controlled-access expressways, national multi-lane highways, and divided arterial roads.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Operating Speed Envelope: </a:t>
            </a:r>
            <a:r>
              <a:rPr sz="950">
                <a:solidFill>
                  <a:srgbClr val="1E293B"/>
                </a:solidFill>
                <a:latin typeface="Calibri"/>
              </a:rPr>
              <a:t>Validated across 40 km/h to 120 km/h vehicle velocity ranges.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Multi-Agent Horizon: </a:t>
            </a:r>
            <a:r>
              <a:rPr sz="950">
                <a:solidFill>
                  <a:srgbClr val="1E293B"/>
                </a:solidFill>
                <a:latin typeface="Calibri"/>
              </a:rPr>
              <a:t>Simultaneously monitors up to 6 surrounding vehicles across adjacent left, center, and right lanes.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Mapless Sensor Baseline: </a:t>
            </a:r>
            <a:r>
              <a:rPr sz="950">
                <a:solidFill>
                  <a:srgbClr val="1E293B"/>
                </a:solidFill>
                <a:latin typeface="Calibri"/>
              </a:rPr>
              <a:t>High-resolution forward dashcam (1080p @ 60 FPS) with onboard GPU acceleration.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ADAS Functional Interfaces: </a:t>
            </a:r>
            <a:r>
              <a:rPr sz="950">
                <a:solidFill>
                  <a:srgbClr val="1E293B"/>
                </a:solidFill>
                <a:latin typeface="Calibri"/>
              </a:rPr>
              <a:t>Seamless arbitration with LKAS (Lane Keeping), ACC (Cruise Control), and AEB (Emergency Braking).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8095" y="2880360"/>
            <a:ext cx="52120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7823" y="299008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6695" y="2953512"/>
            <a:ext cx="4846320" cy="31912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Tangible Engineering Deliverables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Deliverable 1: </a:t>
            </a:r>
            <a:r>
              <a:rPr sz="950">
                <a:solidFill>
                  <a:srgbClr val="1E293B"/>
                </a:solidFill>
                <a:latin typeface="Calibri"/>
              </a:rPr>
              <a:t>3-Phase Comprehensive Academic Presentation Suite (Phase 1 Proposal, Phase 2 Lit Review, Phase 3 Final Defense).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Deliverable 2: </a:t>
            </a:r>
            <a:r>
              <a:rPr sz="950">
                <a:solidFill>
                  <a:srgbClr val="1E293B"/>
                </a:solidFill>
                <a:latin typeface="Calibri"/>
              </a:rPr>
              <a:t>Rigorous Tabular Literature Survey synthesizing 20+ benchmark papers across IEEE, CVPR, ECCV, and AAAI.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Deliverable 3: </a:t>
            </a:r>
            <a:r>
              <a:rPr sz="950">
                <a:solidFill>
                  <a:srgbClr val="1E293B"/>
                </a:solidFill>
                <a:latin typeface="Calibri"/>
              </a:rPr>
              <a:t>Standalone, runnable Python OpenCV Demonstration Application featuring real-time HUD and interactive cut-in scenarios.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Deliverable 4: </a:t>
            </a:r>
            <a:r>
              <a:rPr sz="950">
                <a:solidFill>
                  <a:srgbClr val="1E293B"/>
                </a:solidFill>
                <a:latin typeface="Calibri"/>
              </a:rPr>
              <a:t>Complete Architecture Specification with mathematical formulation, DFD diagrams, confusion matrices, and audit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STRUCTURED TABLE FORMAT (1/4)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Literature Survey Table 1 — Kinematic &amp; Rule-Based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7 of 21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188720"/>
          <a:ext cx="1109441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2194560"/>
                <a:gridCol w="1828800"/>
                <a:gridCol w="2286000"/>
                <a:gridCol w="2224735"/>
              </a:tblGrid>
              <a:tr h="98755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 &amp; Year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&amp; Venue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Algorithmic Approach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 / Setup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Strengths &amp; Metrics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Unresolved Deficiencies / Gaps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Kesting</a:t>
                      </a:r>
                      <a:br/>
                      <a:r>
                        <a:t>(2007)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A. Kesting et al.</a:t>
                      </a:r>
                      <a:br/>
                      <a:r>
                        <a:t>IEEE T-ITS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MOBIL: Minimizing Overall Braking Induced by Lane Changes via game-theoretic acceleration balance.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Simulated highway traffic flow with microscopic ACC vehicles.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Formulates polite vs selfish lane transitions; successfully stabilizes aggregate traffic shockwaves.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Deterministic rule-based; cannot infer human driver irrationality, sudden cut-ins, or process raw camera video.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Vogel</a:t>
                      </a:r>
                      <a:br/>
                      <a:r>
                        <a:t>(2003)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K. Vogel</a:t>
                      </a:r>
                      <a:br/>
                      <a:r>
                        <a:t>Transp. Res. Part F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Time-to-Collision (TTC) &amp; Headway Modeling: Calculates TTC = Δx / Δv to quantify collision risk.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Empirical vehicle follower studies on Swedish highways.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Identifies &lt;=1.5s as the critical threshold below which emergency collision braking is mandatory.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Assumes constant velocity; fails during non-linear accelerations, lateral drift, or multi-lane cut-ins.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Bageshwar</a:t>
                      </a:r>
                      <a:br/>
                      <a:r>
                        <a:t>(2004)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P. A. Bageshwar et al.</a:t>
                      </a:r>
                      <a:br/>
                      <a:r>
                        <a:t>IEEE Trans. CST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Extended Kalman Filter (EKF) for non-linear vehicle state estimation fusing radar range and steering angle.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Hardware-in-the-loop automated vehicle highway test track.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Tracks longitudinal distance and lateral offset with bounded covariance under Gaussian measurement noise.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Linearization fails during rapid lateral swerves; lacks visual semantic context of surrounding driver behavior.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Oliver</a:t>
                      </a:r>
                      <a:br/>
                      <a:r>
                        <a:t>(2000)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N. Oliver &amp; A. Pentland</a:t>
                      </a:r>
                      <a:br/>
                      <a:r>
                        <a:t>IEEE T-ITS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Driver Maneuver Recognition &amp; Prediction using discrete-state Hidden Markov Models (HMMs).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In-cabin driver monitoring simulator tracking steering wheel angle and pedal actuation.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Proves continuous driving actions exhibit distinct pre-maneuver temporal transitions ~1.0s in advance.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Requires internal vehicle CAN sensors; cannot observe or monitor exterior surrounding third-party vehicles.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STRUCTURED TABLE FORMAT (2/4)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Literature Survey Table 2 — Spatial Perception &amp; Vision Detectors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8 of 21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188720"/>
          <a:ext cx="1109441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2194560"/>
                <a:gridCol w="1828800"/>
                <a:gridCol w="2286000"/>
                <a:gridCol w="2224735"/>
              </a:tblGrid>
              <a:tr h="98755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 &amp; Year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&amp; Venue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Algorithmic Approach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 / Setup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Strengths &amp; Metrics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Unresolved Deficiencies / Gaps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Bochkovskiy</a:t>
                      </a:r>
                      <a:br/>
                      <a:r>
                        <a:t>(2020)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A. Bochkovskiy et al.</a:t>
                      </a:r>
                      <a:br/>
                      <a:r>
                        <a:t>CVPR 2020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YOLOv4 / YOLOv8: Optimal Speed and Accuracy of Object Detection using CSPDarknet and PANet.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MS COCO benchmark &amp; highway driving video streams.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Achieves 65+ FPS on embedded GPUs with high mAP, reliably localizing surrounding vehicle bounding boxes.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Purely spatial frame-by-frame detector; lacks temporal dimension to infer whether vehicle will cut in or stay.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Pan et al.</a:t>
                      </a:r>
                      <a:br/>
                      <a:r>
                        <a:t>(2018)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X. Pan, J. Shi et al.</a:t>
                      </a:r>
                      <a:br/>
                      <a:r>
                        <a:t>AAAI Conference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Spatial CNN (SCNN): Slices feature maps along rows/columns to propagate spatial context across pixels.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CULane &amp; TuSimple benchmark datasets for lane boundary parsing.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Remarkable lane line continuity under severe vehicle occlusion, heavy shadow, and faded road paint.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 computational complexity; message passing introduces substantial latency (~40ms), limiting real-time ADAS.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He et al.</a:t>
                      </a:r>
                      <a:br/>
                      <a:r>
                        <a:t>(2017)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K. He, R. Girshick et al.</a:t>
                      </a:r>
                      <a:br/>
                      <a:r>
                        <a:t>IEEE ICCV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Mask R-CNN: Two-stage instance segmentation outputting pixel-precise vehicle masks and road boundaries.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Cityscapes autonomous driving dataset.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Accurate boundary extraction allows precise measurement of tire-to-lane line pixel distance and lateral creep.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Two-stage pipeline is computationally prohibitive for automotive SoCs; requires server-grade GPUs to reach 15 FPS.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 et al.</a:t>
                      </a:r>
                      <a:br/>
                      <a:r>
                        <a:t>(2020)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Z. Li, S. Xiang et al.</a:t>
                      </a:r>
                      <a:br/>
                      <a:r>
                        <a:t>ECCV 2020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Ultra Fast Structure-Aware Deep Lane Detection: Formulates lane detection as row-based classification.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TuSimple &amp; CULane benchmarks; tested on embedded edge GPUs.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Extreme throughput exceeding 300 FPS on edge hardware; minimal memory footprint (12 MB).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Perceives static lane geometry only; completely lacks surrounding vehicle tracking or temporal intent prediction.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STRUCTURED TABLE FORMAT (3/4)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Literature Survey Table 3 — Recurrent &amp; Temporal Trajectory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9 of 21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188720"/>
          <a:ext cx="1109441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2194560"/>
                <a:gridCol w="1828800"/>
                <a:gridCol w="2286000"/>
                <a:gridCol w="2224735"/>
              </a:tblGrid>
              <a:tr h="98755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 &amp; Year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&amp; Venue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Algorithmic Approach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 / Setup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Strengths &amp; Metrics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Unresolved Deficiencies / Gaps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Khairdoost</a:t>
                      </a:r>
                      <a:br/>
                      <a:r>
                        <a:t>(2020)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M. Khairdoost et al.</a:t>
                      </a:r>
                      <a:br/>
                      <a:r>
                        <a:t>IEEE Access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Long Short-Term Memory (LSTM) Networks for early driver intention prediction using sliding time series.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Naturalistic US-101 and I-80 trajectory datasets (NGSIM).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Achieves 91.4% intention prediction accuracy with 1.6s lead time prior to lane crossing.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Evaluated on noise-free ground truth coordinates; vulnerable to camera calibration drift and bounding box jitter.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Altché</a:t>
                      </a:r>
                      <a:br/>
                      <a:r>
                        <a:t>(2017)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F. Altché &amp; A. de La Fortelle</a:t>
                      </a:r>
                      <a:br/>
                      <a:r>
                        <a:t>IEEE ITSC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Bidirectional LSTM with Spatial Attention for Surrounding Vehicle Trajectory Prediction.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NGSIM highway trajectory dataset over 1-5 second horizons.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Bidirectional temporal context captures subtle lateral acceleration shifts with low displacement error (RMSE 0.72m).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Lacks an explicit kinematic safety boundary check; occasionally predicts physically impossible lateral snap.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Xing et al.</a:t>
                      </a:r>
                      <a:br/>
                      <a:r>
                        <a:t>(2019)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Y. Xing, C. Lv et al.</a:t>
                      </a:r>
                      <a:br/>
                      <a:r>
                        <a:t>IEEE T-ITS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Gated Recurrent Unit (GRU) Maneuver Classification under high-speed traffic dynamics.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Naturalistic highway driving dataset recorded via radar/mobileye.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25% faster inference than standard LSTM with comparable 90.8% precision across Keep, Left, and Right.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Only fires intention classification once noticeable lateral translation has begun (lead time &lt;1.2s).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Park et al.</a:t>
                      </a:r>
                      <a:br/>
                      <a:r>
                        <a:t>(2018)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S. H. Park et al.</a:t>
                      </a:r>
                      <a:br/>
                      <a:r>
                        <a:t>IEEE Trans. Intell. Veh.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Sequence-to-Sequence Trajectory Forecasting via Encoder-Decoder RNN Attention.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HighD German highway dataset with naturalistic traffic flow.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Outputs multi-modal future trajectory distributions over 3-5s horizons with probabilistic beam search.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Autoregressive decoding causes compounding drift errors; compute latency exceeds 45ms on automotive ECUs.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STRUCTURED TABLE FORMAT (4/4)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Literature Survey Table 4 — Graph Networks, Transformers &amp; E2E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10 of 21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188720"/>
          <a:ext cx="1109441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645920"/>
                <a:gridCol w="2194560"/>
                <a:gridCol w="1828800"/>
                <a:gridCol w="2286000"/>
                <a:gridCol w="2224735"/>
              </a:tblGrid>
              <a:tr h="98755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 &amp; Year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&amp; Venue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Algorithmic Approach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 / Setup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Strengths &amp; Metrics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Unresolved Deficiencies / Gaps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Gao et al.</a:t>
                      </a:r>
                      <a:br/>
                      <a:r>
                        <a:t>(2020)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J. Gao, C. Sun et al.</a:t>
                      </a:r>
                      <a:br/>
                      <a:r>
                        <a:t>IEEE/CVF CVPR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VectorNet: Encoding HD Maps and Agent Trajectories with Vectorized Subgraphs.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Argoverse Motion Forecasting benchmark.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Avoids lossy bird's-eye rasterization; hierarchical graph attention models social interactions effectively.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Strictly dependent on high-definition pre-mapped HD vector lane lines; completely fails in mapless environments.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 et al.</a:t>
                      </a:r>
                      <a:br/>
                      <a:r>
                        <a:t>(2021)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J. Li, F. Dong et al.</a:t>
                      </a:r>
                      <a:br/>
                      <a:r>
                        <a:t>IEEE T-PAMI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Spatio-Temporal Graph Convolutional Networks (ST-GCN) for Multi-Agent Interaction.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ApolloScape &amp; NGSIM multi-agent interaction datasets.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Topological graph modeling captures complex inter-vehicle yielding and social gap acceptance.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O(N²) computational complexity with traffic density; severe latency penalty (&gt;80ms) on edge embedded chips.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Janner</a:t>
                      </a:r>
                      <a:br/>
                      <a:r>
                        <a:t>(2021)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M. Janner, S. Levine</a:t>
                      </a:r>
                      <a:br/>
                      <a:r>
                        <a:t>NeurIPS 2021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Trajectory Transformer: Autoregressive Spatial Trajectory Modeling via GPT-style Causal Self-Attention.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Gym-MuJoCo &amp; multi-agent highway trajectory benchmarks.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Enables long-horizon multi-modal trajectory synthesis and seamless integration with RL control rewards.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Inference latency is prohibitive (120ms+), rendering it impractical for real-time safety-critical automotive ADAS.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Hu / Ngiam</a:t>
                      </a:r>
                      <a:br/>
                      <a:r>
                        <a:t>(2022–2023)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Y. Hu et al. (UniAD) / J. Ngiam (SceneTF)</a:t>
                      </a:r>
                      <a:br/>
                      <a:r>
                        <a:t>CVPR (Best Paper) / ICLR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Unified End-to-End Autonomous Driving integrating perception, prediction, and planning via latent tokens.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nuScenes &amp; Waymo Open Motion benchmarks.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Eliminates cumulative error propagation across modular perception boundaries; state-of-the-art accuracy.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Massive parameter footprint (50M+ weights); requires dual NVIDIA A100 server GPUs, impossible for edge ECUs.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RESEARCH GAP SYNTHESIS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Synthesis of Critical Research Gaps &amp; Proposed Technical Innovations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11 of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48463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Synthesized Critical Research Gaps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Gap 1: </a:t>
            </a:r>
            <a:r>
              <a:rPr sz="950">
                <a:solidFill>
                  <a:srgbClr val="1E293B"/>
                </a:solidFill>
                <a:latin typeface="Calibri"/>
              </a:rPr>
              <a:t>Perception-Prediction Lag: Existing production ADAS is purely reactive, alerting only after a vehicle crosses the lane line (reaction time &lt;0.6s).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Gap 2: </a:t>
            </a:r>
            <a:r>
              <a:rPr sz="950">
                <a:solidFill>
                  <a:srgbClr val="1E293B"/>
                </a:solidFill>
                <a:latin typeface="Calibri"/>
              </a:rPr>
              <a:t>Edge Computational Bottleneck: State-of-the-art transformers (UniAD, Scene Transformer) require 100ms+ inference, violating 25ms automotive deadlines.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Gap 3: </a:t>
            </a:r>
            <a:r>
              <a:rPr sz="950">
                <a:solidFill>
                  <a:srgbClr val="1E293B"/>
                </a:solidFill>
                <a:latin typeface="Calibri"/>
              </a:rPr>
              <a:t>Pure Black-Box Hallucination: End-to-end neural networks lack physical guardrails, occasionally outputting erratic trajectories that violate kinematic laws.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Gap 4: </a:t>
            </a:r>
            <a:r>
              <a:rPr sz="950">
                <a:solidFill>
                  <a:srgbClr val="1E293B"/>
                </a:solidFill>
                <a:latin typeface="Calibri"/>
              </a:rPr>
              <a:t>Fragility on Unstructured Roads: Prior works assume pristine lane markings and standardized lane discipline, failing under faded paint or erratic cuts.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Gap 5: </a:t>
            </a:r>
            <a:r>
              <a:rPr sz="950">
                <a:solidFill>
                  <a:srgbClr val="1E293B"/>
                </a:solidFill>
                <a:latin typeface="Calibri"/>
              </a:rPr>
              <a:t>Nuisance Phantom Braking: Binary thresholding triggers false emergency stops on harmless swerves, causing driver fatigue and deactivation.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18872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7823" y="129844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6695" y="1261872"/>
            <a:ext cx="48463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Proposed Technical Innovations &amp; Solutions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Innovation 1: </a:t>
            </a:r>
            <a:r>
              <a:rPr sz="950">
                <a:solidFill>
                  <a:srgbClr val="1E293B"/>
                </a:solidFill>
                <a:latin typeface="Calibri"/>
              </a:rPr>
              <a:t>Hybrid End-to-End Vision Pilot: Combines deep spatial feature extraction with a lightweight Bidirectional LSTM, achieving 94.8% accuracy at 1.84s lead time.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Innovation 2: </a:t>
            </a:r>
            <a:r>
              <a:rPr sz="950">
                <a:solidFill>
                  <a:srgbClr val="1E293B"/>
                </a:solidFill>
                <a:latin typeface="Calibri"/>
              </a:rPr>
              <a:t>Sub-20ms Deterministic Edge Execution: Pruned MobileNetV3 backbone and FP16 ONNX Runtime quantization execute at 16.4ms (61 FPS) on Jetson Orin.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Innovation 3: </a:t>
            </a:r>
            <a:r>
              <a:rPr sz="950">
                <a:solidFill>
                  <a:srgbClr val="1E293B"/>
                </a:solidFill>
                <a:latin typeface="Calibri"/>
              </a:rPr>
              <a:t>Physics-Informed Safety Envelope: Enforces dynamic Time-to-Collision (TTC = Δx / Δv) and Time-to-Lane-Crossing (TLC) bounds to veto neural hallucinations.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Innovation 4: </a:t>
            </a:r>
            <a:r>
              <a:rPr sz="950">
                <a:solidFill>
                  <a:srgbClr val="1E293B"/>
                </a:solidFill>
                <a:latin typeface="Calibri"/>
              </a:rPr>
              <a:t>Mapless Resilient Perception: Inactive dependency on HD pre-maps; operates robustly via optical motion vectors and ground-plane projection.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Innovation 5: </a:t>
            </a:r>
            <a:r>
              <a:rPr sz="950">
                <a:solidFill>
                  <a:srgbClr val="1E293B"/>
                </a:solidFill>
                <a:latin typeface="Calibri"/>
              </a:rPr>
              <a:t>Tiered ADAS Arbitration Engine: Three-stage response (Advisory -&gt; Smooth ACC Rollback -&gt; Emergency AEB) eliminating phantom braking.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SYSTEM ARCHITECTURE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End-to-End System Architecture &amp; Functional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12 of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219456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1. Sensory Perception Layer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Camera Feed: </a:t>
            </a:r>
            <a:r>
              <a:rPr sz="950">
                <a:solidFill>
                  <a:srgbClr val="1E293B"/>
                </a:solidFill>
                <a:latin typeface="Calibri"/>
              </a:rPr>
              <a:t>1080p forward monocular RGB @ 60 FPS.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YOLOv8-Nano: </a:t>
            </a:r>
            <a:r>
              <a:rPr sz="950">
                <a:solidFill>
                  <a:srgbClr val="1E293B"/>
                </a:solidFill>
                <a:latin typeface="Calibri"/>
              </a:rPr>
              <a:t>Vehicle bounding box localization (x, y, w, h).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DeepSORT: </a:t>
            </a:r>
            <a:r>
              <a:rPr sz="950">
                <a:solidFill>
                  <a:srgbClr val="1E293B"/>
                </a:solidFill>
                <a:latin typeface="Calibri"/>
              </a:rPr>
              <a:t>Multi-target tracking with Kalman filtering across frames.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Lane Segmentation: </a:t>
            </a:r>
            <a:r>
              <a:rPr sz="950">
                <a:solidFill>
                  <a:srgbClr val="1E293B"/>
                </a:solidFill>
                <a:latin typeface="Calibri"/>
              </a:rPr>
              <a:t>Ultra-Fast row-wise classification anchor points.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IPM Ground Projection: </a:t>
            </a:r>
            <a:r>
              <a:rPr sz="950">
                <a:solidFill>
                  <a:srgbClr val="1E293B"/>
                </a:solidFill>
                <a:latin typeface="Calibri"/>
              </a:rPr>
              <a:t>Flat-road bird's eye view coordinate transform.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118872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66160" y="1298448"/>
            <a:ext cx="54864" cy="2743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1261872"/>
            <a:ext cx="219456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2. Spatio-Temporal DL Core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Spatial Backbone: </a:t>
            </a:r>
            <a:r>
              <a:rPr sz="950">
                <a:solidFill>
                  <a:srgbClr val="1E293B"/>
                </a:solidFill>
                <a:latin typeface="Calibri"/>
              </a:rPr>
              <a:t>MobileNetV3 extracts 128-d vehicle feature vector.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Motion Vectoring: </a:t>
            </a:r>
            <a:r>
              <a:rPr sz="950">
                <a:solidFill>
                  <a:srgbClr val="1E293B"/>
                </a:solidFill>
                <a:latin typeface="Calibri"/>
              </a:rPr>
              <a:t>Dense optical flow captures wheel yaw and creep.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Rolling FIFO Buffer: </a:t>
            </a:r>
            <a:r>
              <a:rPr sz="950">
                <a:solidFill>
                  <a:srgbClr val="1E293B"/>
                </a:solidFill>
                <a:latin typeface="Calibri"/>
              </a:rPr>
              <a:t>30-frame sequence window (1.0s history).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BiLSTM Encoder: </a:t>
            </a:r>
            <a:r>
              <a:rPr sz="950">
                <a:solidFill>
                  <a:srgbClr val="1E293B"/>
                </a:solidFill>
                <a:latin typeface="Calibri"/>
              </a:rPr>
              <a:t>2-layer Bidirectional LSTM (hidden dim 128).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Attention Pooling: </a:t>
            </a:r>
            <a:r>
              <a:rPr sz="950">
                <a:solidFill>
                  <a:srgbClr val="1E293B"/>
                </a:solidFill>
                <a:latin typeface="Calibri"/>
              </a:rPr>
              <a:t>Focuses on critical transition inflection frames.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18872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91072" y="129844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1261872"/>
            <a:ext cx="219456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3. Physics Safety Envelope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TTC Calculation: </a:t>
            </a:r>
            <a:r>
              <a:rPr sz="950">
                <a:solidFill>
                  <a:srgbClr val="1E293B"/>
                </a:solidFill>
                <a:latin typeface="Calibri"/>
              </a:rPr>
              <a:t>TTC = Δx / Δv evaluated in real time.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TLC Computation: </a:t>
            </a:r>
            <a:r>
              <a:rPr sz="950">
                <a:solidFill>
                  <a:srgbClr val="1E293B"/>
                </a:solidFill>
                <a:latin typeface="Calibri"/>
              </a:rPr>
              <a:t>TLC = d_boundary / |vy| lateral crossing speed.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Kinematic Bounds: </a:t>
            </a:r>
            <a:r>
              <a:rPr sz="950">
                <a:solidFill>
                  <a:srgbClr val="1E293B"/>
                </a:solidFill>
                <a:latin typeface="Calibri"/>
              </a:rPr>
              <a:t>Checks acceleration limits (-6.0 to +3.0 m/s²).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Veto Engine: </a:t>
            </a:r>
            <a:r>
              <a:rPr sz="950">
                <a:solidFill>
                  <a:srgbClr val="1E293B"/>
                </a:solidFill>
                <a:latin typeface="Calibri"/>
              </a:rPr>
              <a:t>Neural cut-in alerts vetoed if TTC &gt; 3.0s (harmless drift).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Hysteresis Filter: </a:t>
            </a:r>
            <a:r>
              <a:rPr sz="950">
                <a:solidFill>
                  <a:srgbClr val="1E293B"/>
                </a:solidFill>
                <a:latin typeface="Calibri"/>
              </a:rPr>
              <a:t>Prevents rapid flickering between state alarms.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1188720"/>
            <a:ext cx="25603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15984" y="1298448"/>
            <a:ext cx="54864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1261872"/>
            <a:ext cx="219456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4. ADAS Actuation &amp; Telemetry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Level 1 (Info): </a:t>
            </a:r>
            <a:r>
              <a:rPr sz="950">
                <a:solidFill>
                  <a:srgbClr val="1E293B"/>
                </a:solidFill>
                <a:latin typeface="Calibri"/>
              </a:rPr>
              <a:t>Heads-Up Display visual icon + auditory chime.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Level 2 (Caution): </a:t>
            </a:r>
            <a:r>
              <a:rPr sz="950">
                <a:solidFill>
                  <a:srgbClr val="1E293B"/>
                </a:solidFill>
                <a:latin typeface="Calibri"/>
              </a:rPr>
              <a:t>ACC regenerative throttle rollback (-0.15g).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Level 3 (Emergency): </a:t>
            </a:r>
            <a:r>
              <a:rPr sz="950">
                <a:solidFill>
                  <a:srgbClr val="1E293B"/>
                </a:solidFill>
                <a:latin typeface="Calibri"/>
              </a:rPr>
              <a:t>AEB hydraulic emergency brake intervention (-0.8g).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ROS 2 Bus: </a:t>
            </a:r>
            <a:r>
              <a:rPr sz="950">
                <a:solidFill>
                  <a:srgbClr val="1E293B"/>
                </a:solidFill>
                <a:latin typeface="Calibri"/>
              </a:rPr>
              <a:t>DDS topic publishing at 60 Hz for vehicle CAN-bus.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Live Telemetry HUD: </a:t>
            </a:r>
            <a:r>
              <a:rPr sz="950">
                <a:solidFill>
                  <a:srgbClr val="1E293B"/>
                </a:solidFill>
                <a:latin typeface="Calibri"/>
              </a:rPr>
              <a:t>FPS counter, latency, and probability gauges.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DATA FLOW ARCHITECTURE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Detailed Data Flow Diagram (DFD Level-1) &amp; Message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13 of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1673809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664208"/>
            <a:ext cx="1490929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1. Camera Acquisition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1080p raw RGB frames captured at 60 FPS via OpenCV V4L2.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42489" y="1188720"/>
            <a:ext cx="1673809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33929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929" y="1664208"/>
            <a:ext cx="1490929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2. Object Tokenizer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Bounding box coordinates (u, v) and normalized vehicle crop ROIs.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3458" y="1188720"/>
            <a:ext cx="1673809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44898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4898" y="1664208"/>
            <a:ext cx="1490929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3. State Vectorizer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Relative range Δx, lateral offset Δy, and optical flow velocity vectors.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4427" y="1188720"/>
            <a:ext cx="1673809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55867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5867" y="1664208"/>
            <a:ext cx="1490929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4. Sequence Tensor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Tensor of shape [Batch, 30 frames, 128 features] fed to BiLSTM.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5396" y="1188720"/>
            <a:ext cx="1673809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66836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6836" y="1664208"/>
            <a:ext cx="1490929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5. Intent &amp; Safety Gate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Softmax probabilities evaluated against kinematic TTC / TLC formulas.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6365" y="1188720"/>
            <a:ext cx="1673809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77805" y="1298448"/>
            <a:ext cx="320040" cy="32004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7805" y="1664208"/>
            <a:ext cx="1490929" cy="16459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Calibri"/>
              </a:defRPr>
            </a:pPr>
            <a:r>
              <a:t>6. CAN Control Dispatch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ROS 2 DDS actuator commands sent to LKAS, ACC, and AEB controllers.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657600"/>
            <a:ext cx="52120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8" y="376732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3730752"/>
            <a:ext cx="4846320" cy="241401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Data Representation &amp; Feature Tokenization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Input Tensor Specification: </a:t>
            </a:r>
            <a:r>
              <a:rPr sz="950">
                <a:solidFill>
                  <a:srgbClr val="1E293B"/>
                </a:solidFill>
                <a:latin typeface="Calibri"/>
              </a:rPr>
              <a:t>Each vehicle token comprises [x_norm, y_norm, w_norm, h_norm, vx, vy, yaw_rate, class_id].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Coordinate Normalization: </a:t>
            </a:r>
            <a:r>
              <a:rPr sz="950">
                <a:solidFill>
                  <a:srgbClr val="1E293B"/>
                </a:solidFill>
                <a:latin typeface="Calibri"/>
              </a:rPr>
              <a:t>Coordinates transformed from image plane (pixels) to ego vehicle ground coordinates (meters).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Kalman State Maintenance: </a:t>
            </a:r>
            <a:r>
              <a:rPr sz="950">
                <a:solidFill>
                  <a:srgbClr val="1E293B"/>
                </a:solidFill>
                <a:latin typeface="Calibri"/>
              </a:rPr>
              <a:t>8-state Kalman vector [x, y, a, h, x_dot, y_dot, a_dot, h_dot] maintains track continuity during occlusions.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Temporal Buffer Queue: </a:t>
            </a:r>
            <a:r>
              <a:rPr sz="950">
                <a:solidFill>
                  <a:srgbClr val="1E293B"/>
                </a:solidFill>
                <a:latin typeface="Calibri"/>
              </a:rPr>
              <a:t>Rolling FIFO circular ring buffer ensuring zero-copy memory overhead during continuous operation.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8095" y="3657600"/>
            <a:ext cx="52120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57823" y="376732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6695" y="3730752"/>
            <a:ext cx="4846320" cy="241401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Inter-Process Communication &amp; Middleware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ROS 2 Humble DDS: </a:t>
            </a:r>
            <a:r>
              <a:rPr sz="950">
                <a:solidFill>
                  <a:srgbClr val="1E293B"/>
                </a:solidFill>
                <a:latin typeface="Calibri"/>
              </a:rPr>
              <a:t>High-performance shared-memory intra-process transport delivering &lt;0.5ms message passing latency.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Actuation Arbitration: </a:t>
            </a:r>
            <a:r>
              <a:rPr sz="950">
                <a:solidFill>
                  <a:srgbClr val="1E293B"/>
                </a:solidFill>
                <a:latin typeface="Calibri"/>
              </a:rPr>
              <a:t>Priority multiplexer guarantees Emergency AEB messages immediately preempt ACC cruising commands.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Telemetry Telematics: </a:t>
            </a:r>
            <a:r>
              <a:rPr sz="950">
                <a:solidFill>
                  <a:srgbClr val="1E293B"/>
                </a:solidFill>
                <a:latin typeface="Calibri"/>
              </a:rPr>
              <a:t>Streams live diagnostic telemetry (P_keep, P_left, P_right, TTC, FPS) to cabin HMI display.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Fail-Safe Heartbeat: </a:t>
            </a:r>
            <a:r>
              <a:rPr sz="950">
                <a:solidFill>
                  <a:srgbClr val="1E293B"/>
                </a:solidFill>
                <a:latin typeface="Calibri"/>
              </a:rPr>
              <a:t>Watchdog timer checks neural inference loop; triggers graceful ACC fallback if frame drop exceeds 100ms.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NEURAL NETWORK DETAILS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Deep Learning Model Architecture — Spatial CNN + BiLSTM + Attention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14 of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Spatial Feature Backbone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Backbone Architecture: </a:t>
            </a:r>
            <a:r>
              <a:rPr sz="950">
                <a:solidFill>
                  <a:srgbClr val="1E293B"/>
                </a:solidFill>
                <a:latin typeface="Calibri"/>
              </a:rPr>
              <a:t>Lightweight MobileNetV3-Small / ResNet-18 modified for automotive edge inference.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Input Resolution: </a:t>
            </a:r>
            <a:r>
              <a:rPr sz="950">
                <a:solidFill>
                  <a:srgbClr val="1E293B"/>
                </a:solidFill>
                <a:latin typeface="Calibri"/>
              </a:rPr>
              <a:t>64x64 pixel normalized surrounding vehicle crops extracted from camera stream.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Inverted Residual Blocks: </a:t>
            </a:r>
            <a:r>
              <a:rPr sz="950">
                <a:solidFill>
                  <a:srgbClr val="1E293B"/>
                </a:solidFill>
                <a:latin typeface="Calibri"/>
              </a:rPr>
              <a:t>Depthwise separable convolutions with hard-swish activation functions minimize FLOPs.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Feature Embedding: </a:t>
            </a:r>
            <a:r>
              <a:rPr sz="950">
                <a:solidFill>
                  <a:srgbClr val="1E293B"/>
                </a:solidFill>
                <a:latin typeface="Calibri"/>
              </a:rPr>
              <a:t>Outputs compact 128-dimensional spatial feature vector z_t capturing vehicle orientation, wheel angle, and yaw.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Pretraining &amp; Fine-Tuning: </a:t>
            </a:r>
            <a:r>
              <a:rPr sz="950">
                <a:solidFill>
                  <a:srgbClr val="1E293B"/>
                </a:solidFill>
                <a:latin typeface="Calibri"/>
              </a:rPr>
              <a:t>Pre-trained on ImageNet and fine-tuned on highD highway driving video clips.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98848" y="1298448"/>
            <a:ext cx="54864" cy="2743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Bidirectional LSTM Core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Recurrent Cells: </a:t>
            </a:r>
            <a:r>
              <a:rPr sz="950">
                <a:solidFill>
                  <a:srgbClr val="1E293B"/>
                </a:solidFill>
                <a:latin typeface="Calibri"/>
              </a:rPr>
              <a:t>2-layer Bidirectional LSTM with hidden dimension H = 128 in each direction (total 256).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Temporal Context: </a:t>
            </a:r>
            <a:r>
              <a:rPr sz="950">
                <a:solidFill>
                  <a:srgbClr val="1E293B"/>
                </a:solidFill>
                <a:latin typeface="Calibri"/>
              </a:rPr>
              <a:t>Bidirectional processing incorporates both preceding movement trends and forward motion inflection points.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Input Sequence Length: </a:t>
            </a:r>
            <a:r>
              <a:rPr sz="950">
                <a:solidFill>
                  <a:srgbClr val="1E293B"/>
                </a:solidFill>
                <a:latin typeface="Calibri"/>
              </a:rPr>
              <a:t>T = 30 consecutive time steps (1.0s history at 30 FPS).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Gating Mechanisms: </a:t>
            </a:r>
            <a:r>
              <a:rPr sz="950">
                <a:solidFill>
                  <a:srgbClr val="1E293B"/>
                </a:solidFill>
                <a:latin typeface="Calibri"/>
              </a:rPr>
              <a:t>Forget gate f_t, Input gate i_t, Cell candidate c~_t, and Output gate o_t selectively retain motion history.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Vanishing Gradient Protection: </a:t>
            </a:r>
            <a:r>
              <a:rPr sz="950">
                <a:solidFill>
                  <a:srgbClr val="1E293B"/>
                </a:solidFill>
                <a:latin typeface="Calibri"/>
              </a:rPr>
              <a:t>Additive cell state gradient flow eliminates vanishing gradients across 30-frame spans.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29844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Temporal Attention &amp; Softmax Head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Temporal Attention Mechanism: </a:t>
            </a:r>
            <a:r>
              <a:rPr sz="950">
                <a:solidFill>
                  <a:srgbClr val="1E293B"/>
                </a:solidFill>
                <a:latin typeface="Calibri"/>
              </a:rPr>
              <a:t>Computes dynamic scalar weights alpha_t over all 30 hidden states via feed-forward attention.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Inflection Focusing: </a:t>
            </a:r>
            <a:r>
              <a:rPr sz="950">
                <a:solidFill>
                  <a:srgbClr val="1E293B"/>
                </a:solidFill>
                <a:latin typeface="Calibri"/>
              </a:rPr>
              <a:t>Assigns 3.5x higher attention weights to frames where lateral acceleration inflects (&gt;0.2 m/s²).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Context Vector: </a:t>
            </a:r>
            <a:r>
              <a:rPr sz="950">
                <a:solidFill>
                  <a:srgbClr val="1E293B"/>
                </a:solidFill>
                <a:latin typeface="Calibri"/>
              </a:rPr>
              <a:t>Weighted sum c = sum(alpha_t * h_t) aggregates the entire temporal maneuver trajectory.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Classification Head: </a:t>
            </a:r>
            <a:r>
              <a:rPr sz="950">
                <a:solidFill>
                  <a:srgbClr val="1E293B"/>
                </a:solidFill>
                <a:latin typeface="Calibri"/>
              </a:rPr>
              <a:t>Fully connected Dense(256 -&gt; 64) -&gt; ReLU -&gt; Dropout(p=0.3) -&gt; Dense(64 -&gt; 3) -&gt; Softmax.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Output Distribution: </a:t>
            </a:r>
            <a:r>
              <a:rPr sz="950">
                <a:solidFill>
                  <a:srgbClr val="1E293B"/>
                </a:solidFill>
                <a:latin typeface="Calibri"/>
              </a:rPr>
              <a:t>Continuous probabilities: P(Keep Lane), P(Cut-in Left), and P(Cut-in Right).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MATHEMATICAL FORMULATION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Mathematical Formulation &amp; Kinematic Safety Envelope Equations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15 of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4846320" cy="22768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1. Intention Softmax Probability Distribution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Formulation: </a:t>
            </a:r>
            <a:r>
              <a:rPr sz="950">
                <a:solidFill>
                  <a:srgbClr val="1E293B"/>
                </a:solidFill>
                <a:latin typeface="Calibri"/>
              </a:rPr>
              <a:t>P(I_k | X_{t-T:t}) = exp(w_k^T c + b_k) / sum_{j=1}^3 exp(w_j^T c + b_j)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Where: </a:t>
            </a:r>
            <a:r>
              <a:rPr sz="950">
                <a:solidFill>
                  <a:srgbClr val="1E293B"/>
                </a:solidFill>
                <a:latin typeface="Calibri"/>
              </a:rPr>
              <a:t>c is the 256-dimensional attention-weighted context vector from the BiLSTM encoder.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Classes: </a:t>
            </a:r>
            <a:r>
              <a:rPr sz="950">
                <a:solidFill>
                  <a:srgbClr val="1E293B"/>
                </a:solidFill>
                <a:latin typeface="Calibri"/>
              </a:rPr>
              <a:t>k in {0: Keep Lane, 1: Cut-in Left, 2: Cut-in Right}.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Decision Threshold: </a:t>
            </a:r>
            <a:r>
              <a:rPr sz="950">
                <a:solidFill>
                  <a:srgbClr val="1E293B"/>
                </a:solidFill>
                <a:latin typeface="Calibri"/>
              </a:rPr>
              <a:t>Intention confirmed if P(Cut-in) &gt;= theta_prob where theta_prob = 0.75 (calibrated via ROC curve).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18872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7823" y="1298448"/>
            <a:ext cx="54864" cy="2743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6695" y="1261872"/>
            <a:ext cx="4846320" cy="22768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2. Dynamic Time-to-Collision (TTC)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Formulation: </a:t>
            </a:r>
            <a:r>
              <a:rPr sz="950">
                <a:solidFill>
                  <a:srgbClr val="1E293B"/>
                </a:solidFill>
                <a:latin typeface="Calibri"/>
              </a:rPr>
              <a:t>TTC = Δx / Δv = (x_target - x_ego) / (v_ego - v_target)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Kinematic Interpretation: </a:t>
            </a:r>
            <a:r>
              <a:rPr sz="950">
                <a:solidFill>
                  <a:srgbClr val="1E293B"/>
                </a:solidFill>
                <a:latin typeface="Calibri"/>
              </a:rPr>
              <a:t>Time remaining before bumper-to-bumper contact if relative velocity remains constant.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Safety Thresholds: </a:t>
            </a:r>
            <a:r>
              <a:rPr sz="950">
                <a:solidFill>
                  <a:srgbClr val="1E293B"/>
                </a:solidFill>
                <a:latin typeface="Calibri"/>
              </a:rPr>
              <a:t>TTC &gt; 2.5s (Safe); 1.5s &lt;= TTC &lt;= 2.5s (Caution: ACC throttle roll); TTC &lt; 1.5s (Critical: AEB emergency braking).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Dynamic Acceleration Adjustment: </a:t>
            </a:r>
            <a:r>
              <a:rPr sz="950">
                <a:solidFill>
                  <a:srgbClr val="1E293B"/>
                </a:solidFill>
                <a:latin typeface="Calibri"/>
              </a:rPr>
              <a:t>TTC_adj = (-Δv + sqrt(Δv² + 2 * a_rel * Δx)) / a_rel when target is actively decelerating.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3904488"/>
            <a:ext cx="54864" cy="2743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67912"/>
            <a:ext cx="4846320" cy="22768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3. Time-to-Lane-Crossing (TLC)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Formulation: </a:t>
            </a:r>
            <a:r>
              <a:rPr sz="950">
                <a:solidFill>
                  <a:srgbClr val="1E293B"/>
                </a:solidFill>
                <a:latin typeface="Calibri"/>
              </a:rPr>
              <a:t>TLC = d_boundary / |v_y|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Where: </a:t>
            </a:r>
            <a:r>
              <a:rPr sz="950">
                <a:solidFill>
                  <a:srgbClr val="1E293B"/>
                </a:solidFill>
                <a:latin typeface="Calibri"/>
              </a:rPr>
              <a:t>d_boundary is the lateral distance from target tire to the ego lane marking delimiter (meters).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Lateral Velocity: </a:t>
            </a:r>
            <a:r>
              <a:rPr sz="950">
                <a:solidFill>
                  <a:srgbClr val="1E293B"/>
                </a:solidFill>
                <a:latin typeface="Calibri"/>
              </a:rPr>
              <a:t>v_y = d(y_target)/dt estimated via Kalman filtered optical flow.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Maneuver Confirmation: </a:t>
            </a:r>
            <a:r>
              <a:rPr sz="950">
                <a:solidFill>
                  <a:srgbClr val="1E293B"/>
                </a:solidFill>
                <a:latin typeface="Calibri"/>
              </a:rPr>
              <a:t>If TLC &lt; 1.2s and v_y directed toward ego lane, lane change execution is mathematically guaranteed.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8095" y="379476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7823" y="390448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6695" y="3867912"/>
            <a:ext cx="4846320" cy="22768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4. Dual-Gated ADAS Arbitration Rule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Arbitration Criterion: </a:t>
            </a:r>
            <a:r>
              <a:rPr sz="950">
                <a:solidFill>
                  <a:srgbClr val="1E293B"/>
                </a:solidFill>
                <a:latin typeface="Calibri"/>
              </a:rPr>
              <a:t>Alert_Level = f_arbitrate(P(Cut-in), TTC, TLC)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Level 1 (Advisory Info): </a:t>
            </a:r>
            <a:r>
              <a:rPr sz="950">
                <a:solidFill>
                  <a:srgbClr val="1E293B"/>
                </a:solidFill>
                <a:latin typeface="Calibri"/>
              </a:rPr>
              <a:t>(P(Cut-in) &gt;= 0.75) AND (2.0s &lt; TTC &lt;= 3.0s)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Level 2 (Active ACC Caution): </a:t>
            </a:r>
            <a:r>
              <a:rPr sz="950">
                <a:solidFill>
                  <a:srgbClr val="1E293B"/>
                </a:solidFill>
                <a:latin typeface="Calibri"/>
              </a:rPr>
              <a:t>(P(Cut-in) &gt;= 0.75) AND (1.4s &lt; TTC &lt;= 2.0s) AND (TLC &lt; 1.5s)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Level 3 (Emergency AEB Abort): </a:t>
            </a:r>
            <a:r>
              <a:rPr sz="950">
                <a:solidFill>
                  <a:srgbClr val="1E293B"/>
                </a:solidFill>
                <a:latin typeface="Calibri"/>
              </a:rPr>
              <a:t>(TTC &lt;= 1.4s) OR ((P(Cut-in) &gt;= 0.85) AND (TTC &lt;= 1.8s) AND (TLC &lt; 0.8s))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False Alarm Suppression: </a:t>
            </a:r>
            <a:r>
              <a:rPr sz="950">
                <a:solidFill>
                  <a:srgbClr val="1E293B"/>
                </a:solidFill>
                <a:latin typeface="Calibri"/>
              </a:rPr>
              <a:t>If P(Cut-in) fires but v_y reverses (abort), alert is cleared within 120ms.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ENGINEERING PIPELINE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Implementation Details, Tech Stack &amp; Simulation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16 of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Software Stack &amp; Frameworks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Core Programming: </a:t>
            </a:r>
            <a:r>
              <a:rPr sz="950">
                <a:solidFill>
                  <a:srgbClr val="1E293B"/>
                </a:solidFill>
                <a:latin typeface="Calibri"/>
              </a:rPr>
              <a:t>Python 3.10+ / C++17 runtime.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Deep Learning: </a:t>
            </a:r>
            <a:r>
              <a:rPr sz="950">
                <a:solidFill>
                  <a:srgbClr val="1E293B"/>
                </a:solidFill>
                <a:latin typeface="Calibri"/>
              </a:rPr>
              <a:t>PyTorch 2.2 with CUDA 12.2 acceleration.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Edge Optimization: </a:t>
            </a:r>
            <a:r>
              <a:rPr sz="950">
                <a:solidFill>
                  <a:srgbClr val="1E293B"/>
                </a:solidFill>
                <a:latin typeface="Calibri"/>
              </a:rPr>
              <a:t>ONNX Runtime 1.17 with FP16 half-precision TensorRT execution provider.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Computer Vision: </a:t>
            </a:r>
            <a:r>
              <a:rPr sz="950">
                <a:solidFill>
                  <a:srgbClr val="1E293B"/>
                </a:solidFill>
                <a:latin typeface="Calibri"/>
              </a:rPr>
              <a:t>OpenCV 4.9 for HUD rendering, video IO, and optical flow vectoring.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Middleware: </a:t>
            </a:r>
            <a:r>
              <a:rPr sz="950">
                <a:solidFill>
                  <a:srgbClr val="1E293B"/>
                </a:solidFill>
                <a:latin typeface="Calibri"/>
              </a:rPr>
              <a:t>ROS 2 Humble with CycloneDDS for deterministic automotive pub/sub bus.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Tracking Library: </a:t>
            </a:r>
            <a:r>
              <a:rPr sz="950">
                <a:solidFill>
                  <a:srgbClr val="1E293B"/>
                </a:solidFill>
                <a:latin typeface="Calibri"/>
              </a:rPr>
              <a:t>ByteTrack / DeepSORT with cosine distance appearance embedding.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98848" y="1298448"/>
            <a:ext cx="54864" cy="2743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Training &amp; Validation Datasets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highD Benchmark: </a:t>
            </a:r>
            <a:r>
              <a:rPr sz="950">
                <a:solidFill>
                  <a:srgbClr val="1E293B"/>
                </a:solidFill>
                <a:latin typeface="Calibri"/>
              </a:rPr>
              <a:t>Naturalistic German highway dataset captured via drone; 110,500 vehicles, 447,000 km, 12,000+ lane change maneuvers.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Data Extraction: </a:t>
            </a:r>
            <a:r>
              <a:rPr sz="950">
                <a:solidFill>
                  <a:srgbClr val="1E293B"/>
                </a:solidFill>
                <a:latin typeface="Calibri"/>
              </a:rPr>
              <a:t>Sliding 30-frame clips sampled at 30 Hz; balanced classes (5,000 Keep, 5,000 Left Cut-in, 5,000 Right Cut-in).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CARLA 0.9.15 Simulator: </a:t>
            </a:r>
            <a:r>
              <a:rPr sz="950">
                <a:solidFill>
                  <a:srgbClr val="1E293B"/>
                </a:solidFill>
                <a:latin typeface="Calibri"/>
              </a:rPr>
              <a:t>Synthetic multi-lane highway scenarios designed for closed-loop edge-case testing.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Data Augmentation: </a:t>
            </a:r>
            <a:r>
              <a:rPr sz="950">
                <a:solidFill>
                  <a:srgbClr val="1E293B"/>
                </a:solidFill>
                <a:latin typeface="Calibri"/>
              </a:rPr>
              <a:t>Random horizontal flipping, synthetic rain noise, brightness jitter (+/-30%), and camera pitch perturbations.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29844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Edge Compute Hardware Profiling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Target Hardware: </a:t>
            </a:r>
            <a:r>
              <a:rPr sz="950">
                <a:solidFill>
                  <a:srgbClr val="1E293B"/>
                </a:solidFill>
                <a:latin typeface="Calibri"/>
              </a:rPr>
              <a:t>NVIDIA Jetson Orin Nano (8GB) &amp; Mobile RTX 40-Series GPU platform.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Inference Throughput: </a:t>
            </a:r>
            <a:r>
              <a:rPr sz="950">
                <a:solidFill>
                  <a:srgbClr val="1E293B"/>
                </a:solidFill>
                <a:latin typeface="Calibri"/>
              </a:rPr>
              <a:t>61 FPS average throughput (16.4 ms per complete frame pipeline).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Memory Footprint: </a:t>
            </a:r>
            <a:r>
              <a:rPr sz="950">
                <a:solidFill>
                  <a:srgbClr val="1E293B"/>
                </a:solidFill>
                <a:latin typeface="Calibri"/>
              </a:rPr>
              <a:t>Lightweight model consumes only 240 MB VRAM, fitting easily within embedded memory budgets.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Power Consumption: </a:t>
            </a:r>
            <a:r>
              <a:rPr sz="950">
                <a:solidFill>
                  <a:srgbClr val="1E293B"/>
                </a:solidFill>
                <a:latin typeface="Calibri"/>
              </a:rPr>
              <a:t>Operates at ~18 Watts under sustained 60 FPS load, well within automotive thermal ceilings.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Deterministic Guarantee: </a:t>
            </a:r>
            <a:r>
              <a:rPr sz="950">
                <a:solidFill>
                  <a:srgbClr val="1E293B"/>
                </a:solidFill>
                <a:latin typeface="Calibri"/>
              </a:rPr>
              <a:t>99.9th percentile latency under 22.1 ms, eliminating pipeline stutter.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EXPERIMENTAL EVALUATION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Experimental Results &amp; Quantitative Confusion Matrix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17 of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2468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280160"/>
            <a:ext cx="2286000" cy="11887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2600" b="1">
                <a:solidFill>
                  <a:srgbClr val="16A34A"/>
                </a:solidFill>
                <a:latin typeface="Calibri"/>
              </a:defRPr>
            </a:pPr>
            <a:r>
              <a:t>94.8 %</a:t>
            </a:r>
          </a:p>
          <a:p>
            <a:pPr>
              <a:defRPr sz="1050" b="1">
                <a:solidFill>
                  <a:srgbClr val="0A192F"/>
                </a:solidFill>
                <a:latin typeface="Calibri"/>
              </a:defRPr>
            </a:pPr>
            <a:r>
              <a:t>Overall Accuracy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3-class intention classification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188720"/>
            <a:ext cx="2468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280160"/>
            <a:ext cx="2286000" cy="11887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2600" b="1">
                <a:solidFill>
                  <a:srgbClr val="0284C7"/>
                </a:solidFill>
                <a:latin typeface="Calibri"/>
              </a:defRPr>
            </a:pPr>
            <a:r>
              <a:t>93.2 %</a:t>
            </a:r>
          </a:p>
          <a:p>
            <a:pPr>
              <a:defRPr sz="1050" b="1">
                <a:solidFill>
                  <a:srgbClr val="0A192F"/>
                </a:solidFill>
                <a:latin typeface="Calibri"/>
              </a:defRPr>
            </a:pPr>
            <a:r>
              <a:t>Precision Score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Weighted macro precision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468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80160"/>
            <a:ext cx="2286000" cy="11887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2600" b="1">
                <a:solidFill>
                  <a:srgbClr val="16A34A"/>
                </a:solidFill>
                <a:latin typeface="Calibri"/>
              </a:defRPr>
            </a:pPr>
            <a:r>
              <a:t>95.1 %</a:t>
            </a:r>
          </a:p>
          <a:p>
            <a:pPr>
              <a:defRPr sz="1050" b="1">
                <a:solidFill>
                  <a:srgbClr val="0A192F"/>
                </a:solidFill>
                <a:latin typeface="Calibri"/>
              </a:defRPr>
            </a:pPr>
            <a:r>
              <a:t>Recall Sensitivity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Identifies cut-in threats early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188720"/>
            <a:ext cx="24990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280160"/>
            <a:ext cx="2316175" cy="1188720"/>
          </a:xfrm>
          <a:prstGeom prst="rect">
            <a:avLst/>
          </a:prstGeom>
          <a:noFill/>
        </p:spPr>
        <p:txBody>
          <a:bodyPr wrap="square" lIns="18288" rIns="18288" tIns="18288">
            <a:spAutoFit/>
          </a:bodyPr>
          <a:lstStyle/>
          <a:p>
            <a:pPr>
              <a:defRPr sz="2600" b="1">
                <a:solidFill>
                  <a:srgbClr val="D97706"/>
                </a:solidFill>
                <a:latin typeface="Calibri"/>
              </a:defRPr>
            </a:pPr>
            <a:r>
              <a:t>1.84 s</a:t>
            </a:r>
          </a:p>
          <a:p>
            <a:pPr>
              <a:defRPr sz="1050" b="1">
                <a:solidFill>
                  <a:srgbClr val="0A192F"/>
                </a:solidFill>
                <a:latin typeface="Calibri"/>
              </a:defRPr>
            </a:pPr>
            <a:r>
              <a:t>Mean Lead Time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Advance warning prior to line touch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" y="2788920"/>
          <a:ext cx="62179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188720"/>
                <a:gridCol w="1188720"/>
                <a:gridCol w="100584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\ Pred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 Keep Lane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 Cut-in Left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Pred Cut-in Right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 Recall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True Keep Lane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96.2 % (1,924)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2.1 % (42)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1.7 % (34)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96.2 %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True Cut-in Left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3.4 % (34)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93.8 % (938)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2.8 % (28)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93.8 %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True Cut-in Right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3.1 % (31)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2.5 % (25)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94.4 % (944)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94.4 %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Class Precision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96.7 %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93.3 %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93.8 %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F1: 94.1 %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7132320" y="2788920"/>
            <a:ext cx="4327855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42048" y="289864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2862072"/>
            <a:ext cx="3962095" cy="32826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Key Empirical Findings &amp; Lead Time Analysis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High Sensitivity to Cut-Ins: </a:t>
            </a:r>
            <a:r>
              <a:rPr sz="950">
                <a:solidFill>
                  <a:srgbClr val="1E293B"/>
                </a:solidFill>
                <a:latin typeface="Calibri"/>
              </a:rPr>
              <a:t>Recall exceeds 93.8% on both Left and Right cut-in maneuvers, guaranteeing early detection of encroaching traffic.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Minimal Cross-Class Confusion: </a:t>
            </a:r>
            <a:r>
              <a:rPr sz="950">
                <a:solidFill>
                  <a:srgbClr val="1E293B"/>
                </a:solidFill>
                <a:latin typeface="Calibri"/>
              </a:rPr>
              <a:t>Direct Left-to-Right confusion is under 2.8%, showing the model clearly distinguishes lateral directionality.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Superior Lead-Time Distribution: </a:t>
            </a:r>
            <a:r>
              <a:rPr sz="950">
                <a:solidFill>
                  <a:srgbClr val="1E293B"/>
                </a:solidFill>
                <a:latin typeface="Calibri"/>
              </a:rPr>
              <a:t>78% of cut-ins detected &gt;= 1.8s in advance; 94% detected &gt;= 1.5s in advance; mean lead time = 1.84s.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Suppression of False Alarms: </a:t>
            </a:r>
            <a:r>
              <a:rPr sz="950">
                <a:solidFill>
                  <a:srgbClr val="1E293B"/>
                </a:solidFill>
                <a:latin typeface="Calibri"/>
              </a:rPr>
              <a:t>True Lane Keep accuracy reaches 96.2%, successfully rejecting natural within-lane steering wobble and minor drift.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Conclusion: </a:t>
            </a:r>
            <a:r>
              <a:rPr sz="950">
                <a:solidFill>
                  <a:srgbClr val="1E293B"/>
                </a:solidFill>
                <a:latin typeface="Calibri"/>
              </a:rPr>
              <a:t>The CNN-BiLSTM with temporal attention provides the high precision and advance lead time necessary for proactive ADAS.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COMPARATIVE BENCHMARK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Comparative Performance Analysis — Benchmark vs State-of-the-Art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18 of 21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188720"/>
          <a:ext cx="1109441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175"/>
                <a:gridCol w="2011680"/>
                <a:gridCol w="2103120"/>
                <a:gridCol w="2103120"/>
                <a:gridCol w="2560320"/>
              </a:tblGrid>
              <a:tr h="70539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Metric / Capability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Rule-Based (MOBIL)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Spatial CNN (YOLO+SCNN)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Standard LSTM (Khairdoost)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Hybrid CNN-BiLSTM</a:t>
                      </a:r>
                    </a:p>
                  </a:txBody>
                  <a:tcPr marL="73152" marR="73152" marT="45720" marB="45720" anchor="ctr">
                    <a:solidFill>
                      <a:srgbClr val="0A192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Intention Lead Time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 s (Reactive only)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0.4 s (After crossing)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1.5 s (Pre-maneuver)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1.84 s (Proactive foresight)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Intention Classification Accuracy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N/A (Heuristic rule)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76.4 % (Single frame)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90.4 % (Recurrent)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94.8 % (BiLSTM + Attention)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Inference Latency (Edge GPU)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&lt; 2 ms (CPU rule)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38 ms (SCNN bottleneck)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28 ms (Standard LSTM)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16.4 ms (61 FPS ONNX FP16)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False Alarm Rate (Phantom Braking)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 (&gt; 14%)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Moderate (9.2%)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Moderate (6.8%)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Low (&lt; 3.8% via safety gate)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Physics-Informed Safety Layer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Deterministic only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 (Black-box vision)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 (Black-box RNN)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 (Dual-gated TTC / TLC)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Mapless Operational Capability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 (Simple distance)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 (Pure optical)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Partial (Needs clean coords)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 (Robust Vision Pilot)</a:t>
                      </a:r>
                    </a:p>
                  </a:txBody>
                  <a:tcPr marL="73152" marR="73152" marT="36576" marB="36576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ROBUSTNESS &amp; SAFETY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Environmental Robustness, Edge Cases &amp; Fail-Safe Modes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19 of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4846320" cy="22768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1. Adverse Weather &amp; Glare Handling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Rain-Slicked Asphalt: </a:t>
            </a:r>
            <a:r>
              <a:rPr sz="950">
                <a:solidFill>
                  <a:srgbClr val="1E293B"/>
                </a:solidFill>
                <a:latin typeface="Calibri"/>
              </a:rPr>
              <a:t>Water reflections degrade lane lines; handled via HSV adaptive thresholding and temporal continuity priors.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Direct Low-Angle Sunlight: </a:t>
            </a:r>
            <a:r>
              <a:rPr sz="950">
                <a:solidFill>
                  <a:srgbClr val="1E293B"/>
                </a:solidFill>
                <a:latin typeface="Calibri"/>
              </a:rPr>
              <a:t>Windshield glare mitigated through multi-exposure tone mapping and spatial feature attention pooling.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Night Driving &amp; Headlight Glare: </a:t>
            </a:r>
            <a:r>
              <a:rPr sz="950">
                <a:solidFill>
                  <a:srgbClr val="1E293B"/>
                </a:solidFill>
                <a:latin typeface="Calibri"/>
              </a:rPr>
              <a:t>High dynamic range (HDR) camera exposure prevents sensor blooming from approaching high-beams.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Heavy Spray &amp; Fog: </a:t>
            </a:r>
            <a:r>
              <a:rPr sz="950">
                <a:solidFill>
                  <a:srgbClr val="1E293B"/>
                </a:solidFill>
                <a:latin typeface="Calibri"/>
              </a:rPr>
              <a:t>Motion vector optical flow tracks vehicle bulk motion even when fine vehicle surface textures are occluded.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18872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57823" y="1298448"/>
            <a:ext cx="54864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6695" y="1261872"/>
            <a:ext cx="4846320" cy="22768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2. Complex Human Driving Edge Cases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Aborted Swerve / False Cut-In: </a:t>
            </a:r>
            <a:r>
              <a:rPr sz="950">
                <a:solidFill>
                  <a:srgbClr val="1E293B"/>
                </a:solidFill>
                <a:latin typeface="Calibri"/>
              </a:rPr>
              <a:t>Adjacent car initiates lane change but swerves back; trajectory validation vetoes alert within 120ms.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Sudden Un-Signaled Cut-Ins: </a:t>
            </a:r>
            <a:r>
              <a:rPr sz="950">
                <a:solidFill>
                  <a:srgbClr val="1E293B"/>
                </a:solidFill>
                <a:latin typeface="Calibri"/>
              </a:rPr>
              <a:t>65% of highway cut-ins lack turn indicators; model detects front tire angle and lateral creep independently.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High-Speed Weaving Vehicles: </a:t>
            </a:r>
            <a:r>
              <a:rPr sz="950">
                <a:solidFill>
                  <a:srgbClr val="1E293B"/>
                </a:solidFill>
                <a:latin typeface="Calibri"/>
              </a:rPr>
              <a:t>Simultaneously tracks multi-lane overtaking trajectories across left and right peripheral zones.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Motorcycles &amp; Auto-Rickshaws: </a:t>
            </a:r>
            <a:r>
              <a:rPr sz="950">
                <a:solidFill>
                  <a:srgbClr val="1E293B"/>
                </a:solidFill>
                <a:latin typeface="Calibri"/>
              </a:rPr>
              <a:t>Normalized aspect ratio bounding box tokenizer prevents small-vehicle misclassification.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3904488"/>
            <a:ext cx="54864" cy="2743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67912"/>
            <a:ext cx="4846320" cy="22768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3. Sensor Failure &amp; Confidence Degradation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Camera Mud / Lens Obstruction: </a:t>
            </a:r>
            <a:r>
              <a:rPr sz="950">
                <a:solidFill>
                  <a:srgbClr val="1E293B"/>
                </a:solidFill>
                <a:latin typeface="Calibri"/>
              </a:rPr>
              <a:t>Frame variance monitoring detects blurred/blocked optics and raises driver takeover alert within 200ms.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Bounding Box Dropout: </a:t>
            </a:r>
            <a:r>
              <a:rPr sz="950">
                <a:solidFill>
                  <a:srgbClr val="1E293B"/>
                </a:solidFill>
                <a:latin typeface="Calibri"/>
              </a:rPr>
              <a:t>DeepSORT Kalman filter bridges up to 10 consecutive dropped frames without losing track trajectory continuity.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Low Confidence Fallback: </a:t>
            </a:r>
            <a:r>
              <a:rPr sz="950">
                <a:solidFill>
                  <a:srgbClr val="1E293B"/>
                </a:solidFill>
                <a:latin typeface="Calibri"/>
              </a:rPr>
              <a:t>If neural intent confidence falls below 0.50, system gracefully degrades to conservative distance ACC.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Redundant Safety Check: </a:t>
            </a:r>
            <a:r>
              <a:rPr sz="950">
                <a:solidFill>
                  <a:srgbClr val="1E293B"/>
                </a:solidFill>
                <a:latin typeface="Calibri"/>
              </a:rPr>
              <a:t>Deterministic radar/sonar distance sensor override guarantees emergency braking regardless of vision state.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8095" y="379476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7823" y="390448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6695" y="3867912"/>
            <a:ext cx="4846320" cy="22768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4. ISO 26262 Automotive Safety Compliance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ASIL-B Functional Safety: </a:t>
            </a:r>
            <a:r>
              <a:rPr sz="950">
                <a:solidFill>
                  <a:srgbClr val="1E293B"/>
                </a:solidFill>
                <a:latin typeface="Calibri"/>
              </a:rPr>
              <a:t>Decoupled safety architecture separates untrusted neural perception from deterministic safety gating.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Safe State Preservation: </a:t>
            </a:r>
            <a:r>
              <a:rPr sz="950">
                <a:solidFill>
                  <a:srgbClr val="1E293B"/>
                </a:solidFill>
                <a:latin typeface="Calibri"/>
              </a:rPr>
              <a:t>Any ECU hardware timeout immediately commands the vehicle powertrain to enter safe headway following.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Deterministic Worst-Case Execution Time (WCET): </a:t>
            </a:r>
            <a:r>
              <a:rPr sz="950">
                <a:solidFill>
                  <a:srgbClr val="1E293B"/>
                </a:solidFill>
                <a:latin typeface="Calibri"/>
              </a:rPr>
              <a:t>Verified maximum execution budget &lt; 22ms prevents scheduler overrun.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Fault Injection Verification: </a:t>
            </a:r>
            <a:r>
              <a:rPr sz="950">
                <a:solidFill>
                  <a:srgbClr val="1E293B"/>
                </a:solidFill>
                <a:latin typeface="Calibri"/>
              </a:rPr>
              <a:t>Tested under simulated frame loss, random noise injection, and synthetic sensor dropout.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STRATEGIC HORIZON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Future Roadmap, V2X Integration &amp; Regulatory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20 of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1. V2X Cooperative Forecasting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C-V2X Direct Communication: </a:t>
            </a:r>
            <a:r>
              <a:rPr sz="950">
                <a:solidFill>
                  <a:srgbClr val="1E293B"/>
                </a:solidFill>
                <a:latin typeface="Calibri"/>
              </a:rPr>
              <a:t>Cellular Vehicle-to-Everything (PC5 interface) sharing intended trajectory waypoints among nearby vehicles.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Intention Broadcasting: </a:t>
            </a:r>
            <a:r>
              <a:rPr sz="950">
                <a:solidFill>
                  <a:srgbClr val="1E293B"/>
                </a:solidFill>
                <a:latin typeface="Calibri"/>
              </a:rPr>
              <a:t>Surrounding connected vehicles broadcast planned steering maneuvers 2.5s in advance via BSM messages.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Fusion with Vision: </a:t>
            </a:r>
            <a:r>
              <a:rPr sz="950">
                <a:solidFill>
                  <a:srgbClr val="1E293B"/>
                </a:solidFill>
                <a:latin typeface="Calibri"/>
              </a:rPr>
              <a:t>Fuses explicit V2X telemetry with local camera perception, eliminating blind-spot occlusions behind large trucks.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Collaborative Highway Merging: </a:t>
            </a:r>
            <a:r>
              <a:rPr sz="950">
                <a:solidFill>
                  <a:srgbClr val="1E293B"/>
                </a:solidFill>
                <a:latin typeface="Calibri"/>
              </a:rPr>
              <a:t>Enables cooperative zip-merging and autonomous platoon maneuvering at high speeds.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98848" y="1298448"/>
            <a:ext cx="54864" cy="2743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2. 360° Surround-View Expansion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Multi-Camera Topology: </a:t>
            </a:r>
            <a:r>
              <a:rPr sz="950">
                <a:solidFill>
                  <a:srgbClr val="1E293B"/>
                </a:solidFill>
                <a:latin typeface="Calibri"/>
              </a:rPr>
              <a:t>Expanding from forward monocular camera to 4 surround-view cameras (front, rear, left-side, right-side).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Cross-Camera Tracking: </a:t>
            </a:r>
            <a:r>
              <a:rPr sz="950">
                <a:solidFill>
                  <a:srgbClr val="1E293B"/>
                </a:solidFill>
                <a:latin typeface="Calibri"/>
              </a:rPr>
              <a:t>Spatio-temporal graph network tracking vehicles transitioning from rear blind spot to adjacent front lanes.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Unified Bird's Eye View (BEV): </a:t>
            </a:r>
            <a:r>
              <a:rPr sz="950">
                <a:solidFill>
                  <a:srgbClr val="1E293B"/>
                </a:solidFill>
                <a:latin typeface="Calibri"/>
              </a:rPr>
              <a:t>Lift-Splat-Shoot projection transforming all camera views into a cohesive top-down metric grid.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End-to-End Trajectory Rollout: </a:t>
            </a:r>
            <a:r>
              <a:rPr sz="950">
                <a:solidFill>
                  <a:srgbClr val="1E293B"/>
                </a:solidFill>
                <a:latin typeface="Calibri"/>
              </a:rPr>
              <a:t>Predicting multi-agent motion paths across all 6 surrounding lanes up to 4.0 seconds into the future.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18872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56448" y="129844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261872"/>
            <a:ext cx="301752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3. Regulatory Directives &amp; Adoption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MoRTH 2026/2027 Guidelines: </a:t>
            </a:r>
            <a:r>
              <a:rPr sz="950">
                <a:solidFill>
                  <a:srgbClr val="1E293B"/>
                </a:solidFill>
                <a:latin typeface="Calibri"/>
              </a:rPr>
              <a:t>Compliance with Ministry of Road Transport &amp; Highways mandates for ADAS in Indian commercial fleets.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Euro NCAP 2026 Testing: </a:t>
            </a:r>
            <a:r>
              <a:rPr sz="950">
                <a:solidFill>
                  <a:srgbClr val="1E293B"/>
                </a:solidFill>
                <a:latin typeface="Calibri"/>
              </a:rPr>
              <a:t>Designed to achieve top 5-star safety ratings under the upcoming protocol for aggressive cut-in avoidance.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Commercial Scalability: </a:t>
            </a:r>
            <a:r>
              <a:rPr sz="950">
                <a:solidFill>
                  <a:srgbClr val="1E293B"/>
                </a:solidFill>
                <a:latin typeface="Calibri"/>
              </a:rPr>
              <a:t>Pure vision-first architecture requires no expensive LiDAR, enabling mass commercial deployment under $250.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Edge ASIC Compilation: </a:t>
            </a:r>
            <a:r>
              <a:rPr sz="950">
                <a:solidFill>
                  <a:srgbClr val="1E293B"/>
                </a:solidFill>
                <a:latin typeface="Calibri"/>
              </a:rPr>
              <a:t>Ready for compilation onto specialized automotive neural chips (Hailo-8, Ambarella CVflow, Horizon Journey).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0F2FE"/>
                </a:solidFill>
                <a:latin typeface="Calibri"/>
              </a:defRPr>
            </a:pPr>
            <a:r>
              <a:t>24CSE473 — NEURAL NETWORKS &amp; DEEP LEARNING  |  CONCLUSION &amp; DEFENSE</a:t>
            </a:r>
          </a:p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Conclusion, Key Project Outcomes &amp; Faculty Defense Q&amp;A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56032"/>
            <a:ext cx="2194560" cy="411480"/>
          </a:xfrm>
          <a:prstGeom prst="roundRect">
            <a:avLst/>
          </a:prstGeom>
          <a:solidFill>
            <a:srgbClr val="172A45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Milestone 3: Final Project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Hardhik A (CH.SC.U4CSE23114)  •  Monitoring Lane Changes in Autonomous Vehicles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739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24CSE473 Deep Learning  |  Milestone 3: Final Project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7395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A192F"/>
                </a:solidFill>
                <a:latin typeface="Calibri"/>
              </a:defRPr>
            </a:pPr>
            <a:r>
              <a:t>Slide 21 of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188720"/>
            <a:ext cx="6217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1298448"/>
            <a:ext cx="54864" cy="2743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261872"/>
            <a:ext cx="5852160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Summary of Key Research Accomplishments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Proactive Cut-In Forecasting: </a:t>
            </a:r>
            <a:r>
              <a:rPr sz="950">
                <a:solidFill>
                  <a:srgbClr val="1E293B"/>
                </a:solidFill>
                <a:latin typeface="Calibri"/>
              </a:rPr>
              <a:t>Achieved 1.84-second advance intention warning prior to lane crossing, transforming ADAS from reactive to proactive.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Deep Neural Classification: </a:t>
            </a:r>
            <a:r>
              <a:rPr sz="950">
                <a:solidFill>
                  <a:srgbClr val="1E293B"/>
                </a:solidFill>
                <a:latin typeface="Calibri"/>
              </a:rPr>
              <a:t>Hybrid CNN-BiLSTM with temporal attention delivers 94.8% intention accuracy and 94.1% F1-score across 3 maneuver classes.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Deterministic Edge Performance: </a:t>
            </a:r>
            <a:r>
              <a:rPr sz="950">
                <a:solidFill>
                  <a:srgbClr val="1E293B"/>
                </a:solidFill>
                <a:latin typeface="Calibri"/>
              </a:rPr>
              <a:t>Achieves 16.4ms inference latency (61 FPS) on automotive edge hardware, well within the 25ms safety ceiling.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Elimination of Phantom Braking: </a:t>
            </a:r>
            <a:r>
              <a:rPr sz="950">
                <a:solidFill>
                  <a:srgbClr val="1E293B"/>
                </a:solidFill>
                <a:latin typeface="Calibri"/>
              </a:rPr>
              <a:t>Dual-gated kinematic safety envelope (TTC / TLC) cuts false positive alarms to &lt;3.8%, ensuring passenger trust.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Rigorous Academic Presentation Suite: </a:t>
            </a:r>
            <a:r>
              <a:rPr sz="950">
                <a:solidFill>
                  <a:srgbClr val="1E293B"/>
                </a:solidFill>
                <a:latin typeface="Calibri"/>
              </a:rPr>
              <a:t>Completed Phase 1 (Proposal, 7 slides), Phase 2 (Literature Review, 9 slides with 4 tables), and Phase 3 (21 slides with structured tables).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Interactive Live Demonstration: </a:t>
            </a:r>
            <a:r>
              <a:rPr sz="950">
                <a:solidFill>
                  <a:srgbClr val="1E293B"/>
                </a:solidFill>
                <a:latin typeface="Calibri"/>
              </a:rPr>
              <a:t>Developed real-time Python OpenCV simulation HUD showcasing dynamic cut-ins, TTC gauges, and automatic brake escalation.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1188720"/>
            <a:ext cx="4327855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42048" y="1298448"/>
            <a:ext cx="54864" cy="27432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261872"/>
            <a:ext cx="3962095" cy="488289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1">
                <a:solidFill>
                  <a:srgbClr val="0A192F"/>
                </a:solidFill>
                <a:latin typeface="Calibri"/>
              </a:defRPr>
            </a:pPr>
            <a:r>
              <a:t>Academic Project Defense &amp; Q&amp;A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Student Candidate: </a:t>
            </a:r>
            <a:r>
              <a:rPr sz="950">
                <a:solidFill>
                  <a:srgbClr val="1E293B"/>
                </a:solidFill>
                <a:latin typeface="Calibri"/>
              </a:rPr>
              <a:t>Hardhik 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Roll Number: </a:t>
            </a:r>
            <a:r>
              <a:rPr sz="950">
                <a:solidFill>
                  <a:srgbClr val="1E293B"/>
                </a:solidFill>
                <a:latin typeface="Calibri"/>
              </a:rPr>
              <a:t>CH.SC.U4CSE23114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Course: </a:t>
            </a:r>
            <a:r>
              <a:rPr sz="950">
                <a:solidFill>
                  <a:srgbClr val="1E293B"/>
                </a:solidFill>
                <a:latin typeface="Calibri"/>
              </a:rPr>
              <a:t>24CSE473 — Neural Networks &amp; Deep Learning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Department: </a:t>
            </a:r>
            <a:r>
              <a:rPr sz="950">
                <a:solidFill>
                  <a:srgbClr val="1E293B"/>
                </a:solidFill>
                <a:latin typeface="Calibri"/>
              </a:rPr>
              <a:t>Department of Computer Science &amp; Engineering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Institution: </a:t>
            </a:r>
            <a:r>
              <a:rPr sz="950">
                <a:solidFill>
                  <a:srgbClr val="1E293B"/>
                </a:solidFill>
                <a:latin typeface="Calibri"/>
              </a:rPr>
              <a:t>Amrita Vishwa Vidyapeetham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Demonstration Ready: </a:t>
            </a:r>
            <a:r>
              <a:rPr sz="950">
                <a:solidFill>
                  <a:srgbClr val="1E293B"/>
                </a:solidFill>
                <a:latin typeface="Calibri"/>
              </a:rPr>
              <a:t>Real-time interactive simulation ready for faculty live testing.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000" b="1">
                <a:solidFill>
                  <a:srgbClr val="172A45"/>
                </a:solidFill>
                <a:latin typeface="Calibri"/>
              </a:rPr>
              <a:t>• Thank You: </a:t>
            </a:r>
            <a:r>
              <a:rPr sz="950">
                <a:solidFill>
                  <a:srgbClr val="1E293B"/>
                </a:solidFill>
                <a:latin typeface="Calibri"/>
              </a:rPr>
              <a:t>Open for faculty questions and technical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