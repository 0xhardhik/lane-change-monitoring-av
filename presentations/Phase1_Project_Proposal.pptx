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" cy="4114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914400"/>
            <a:ext cx="5303520" cy="411480"/>
          </a:xfrm>
          <a:prstGeom prst="roundRect">
            <a:avLst/>
          </a:prstGeom>
          <a:solidFill>
            <a:srgbClr val="23355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E0F2FE"/>
                </a:solidFill>
              </a:defRPr>
            </a:pPr>
            <a:r>
              <a:t>COURSE: 24CSE473 - NEURAL NETWORKS AND DEEP LEARNING | MILESTONE 1: PROJECT PROPOSAL &amp; 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087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Monitoring Lane Changes in Autonomous Vehicles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Calibri"/>
              </a:defRPr>
            </a:pPr>
            <a:r>
              <a:t>Predictive Intention Classification &amp; Trajectory Safety Validation via Vision Pilot Deep Neural Networks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931920"/>
            <a:ext cx="9875520" cy="137160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Candidate: Hardhik A  |  Roll Number: CH.SC.U4CSE23114</a:t>
            </a:r>
          </a:p>
          <a:p>
            <a:pPr>
              <a:defRPr sz="1200">
                <a:solidFill>
                  <a:srgbClr val="E0F2FE"/>
                </a:solidFill>
                <a:latin typeface="Calibri"/>
              </a:defRPr>
            </a:pPr>
            <a:r>
              <a:t>Department of Computer Science &amp; Engineering, Amrita Vishwa Vidyapeetham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Evaluation Domain: Vision Pilot Hybrid End-to-End AI &amp; Deep Spatio-Temporal 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943600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Amrita Vishwa Vidyapeetham — Academic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0F2FE"/>
                </a:solidFill>
                <a:latin typeface="Calibri"/>
              </a:defRPr>
            </a:pPr>
            <a:r>
              <a:t>24CSE473 — NEURAL NETWORKS &amp; DEEP LEARNING  |  CONTEXT &amp; URGENCY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Problem Formulation &amp; Urban Highway Motivation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56032"/>
            <a:ext cx="2194560" cy="4114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Milestone 1: Project Proposal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Hardhik A (CH.SC.U4CSE23114)  •  Monitoring Lane Changes in Autonomous Vehicles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4739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24CSE473 Deep Learning  |  Milestone 1: Project Proposal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47395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192F"/>
                </a:solidFill>
                <a:latin typeface="Calibri"/>
              </a:defRPr>
            </a:pPr>
            <a:r>
              <a:t>Slide 2 of 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18872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1298448"/>
            <a:ext cx="54864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261872"/>
            <a:ext cx="3017520" cy="4882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The Urbanization &amp; Highway Challenge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High-Speed Highway Vulnerability: </a:t>
            </a:r>
            <a:r>
              <a:rPr sz="950">
                <a:solidFill>
                  <a:srgbClr val="1E293B"/>
                </a:solidFill>
                <a:latin typeface="Calibri"/>
              </a:rPr>
              <a:t>Modern multi-lane highways experience severe bottleneck congestion and frequent erratic cut-in maneuvers.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Accident Severity: </a:t>
            </a:r>
            <a:r>
              <a:rPr sz="950">
                <a:solidFill>
                  <a:srgbClr val="1E293B"/>
                </a:solidFill>
                <a:latin typeface="Calibri"/>
              </a:rPr>
              <a:t>Over 45% of highway collisions and 70%+ of autonomous vehicle safety disengagements occur during unexpected lane transitions.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Reaction Time Deficit: </a:t>
            </a:r>
            <a:r>
              <a:rPr sz="950">
                <a:solidFill>
                  <a:srgbClr val="1E293B"/>
                </a:solidFill>
                <a:latin typeface="Calibri"/>
              </a:rPr>
              <a:t>Human drivers take 1.2 to 1.5 seconds to react to an aggressive cut-in, which is fatal at highway velocities exceeding 100 km/h.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Complex Indian Road Scenarios: </a:t>
            </a:r>
            <a:r>
              <a:rPr sz="950">
                <a:solidFill>
                  <a:srgbClr val="1E293B"/>
                </a:solidFill>
                <a:latin typeface="Calibri"/>
              </a:rPr>
              <a:t>Heterogeneous traffic, unstructured lane discipline, non-standardized vehicle sizes, and frequent un-signaled lane weaving.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18872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98848" y="1298448"/>
            <a:ext cx="54864" cy="2743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1261872"/>
            <a:ext cx="3017520" cy="4882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The Flaw of Reactive ADAS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Reactive Distance Keeping: </a:t>
            </a:r>
            <a:r>
              <a:rPr sz="950">
                <a:solidFill>
                  <a:srgbClr val="1E293B"/>
                </a:solidFill>
                <a:latin typeface="Calibri"/>
              </a:rPr>
              <a:t>Conventional radar-based ACC (Adaptive Cruise Control) only modulates velocity after a target vehicle has fully occupied the ego-lane.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Late Braking Jerks: </a:t>
            </a:r>
            <a:r>
              <a:rPr sz="950">
                <a:solidFill>
                  <a:srgbClr val="1E293B"/>
                </a:solidFill>
                <a:latin typeface="Calibri"/>
              </a:rPr>
              <a:t>Belated reaction causes abrupt deceleration, passenger discomfort, and severe rear-end collision risks from following traffic.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Lack of Intent Awareness: </a:t>
            </a:r>
            <a:r>
              <a:rPr sz="950">
                <a:solidFill>
                  <a:srgbClr val="1E293B"/>
                </a:solidFill>
                <a:latin typeface="Calibri"/>
              </a:rPr>
              <a:t>Existing commercial systems lack temporal memory—they perceive vehicle position but fail to predict behavioral intent.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False Positive Fatigue: </a:t>
            </a:r>
            <a:r>
              <a:rPr sz="950">
                <a:solidFill>
                  <a:srgbClr val="1E293B"/>
                </a:solidFill>
                <a:latin typeface="Calibri"/>
              </a:rPr>
              <a:t>Overly conservative braking triggers unnecessary phantom stops, causing drivers to deactivate ADAS functions entirely.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18872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56448" y="1298448"/>
            <a:ext cx="54864" cy="2743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261872"/>
            <a:ext cx="3017520" cy="4882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The Deep Learning Opportunity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Proactive Intent Forecasting: </a:t>
            </a:r>
            <a:r>
              <a:rPr sz="950">
                <a:solidFill>
                  <a:srgbClr val="1E293B"/>
                </a:solidFill>
                <a:latin typeface="Calibri"/>
              </a:rPr>
              <a:t>Deep spatio-temporal neural networks can recognize subtle pre-maneuver cues 1.8+ seconds before lane line crossing.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Micro-Motion Signatures: </a:t>
            </a:r>
            <a:r>
              <a:rPr sz="950">
                <a:solidFill>
                  <a:srgbClr val="1E293B"/>
                </a:solidFill>
                <a:latin typeface="Calibri"/>
              </a:rPr>
              <a:t>Detecting lateral drift velocity, subtle yaw-angle variation, steering wheel orientation, and front-wheel turn angles.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Surrounding Spatial Context: </a:t>
            </a:r>
            <a:r>
              <a:rPr sz="950">
                <a:solidFill>
                  <a:srgbClr val="1E293B"/>
                </a:solidFill>
                <a:latin typeface="Calibri"/>
              </a:rPr>
              <a:t>Neural attention mechanisms model multi-vehicle interactions and gap-acceptance dynamics across adjacent lanes.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Vision Pilot Integration: </a:t>
            </a:r>
            <a:r>
              <a:rPr sz="950">
                <a:solidFill>
                  <a:srgbClr val="1E293B"/>
                </a:solidFill>
                <a:latin typeface="Calibri"/>
              </a:rPr>
              <a:t>Camera-first, mapless perception provides a cost-effective, scalable foundation without reliance on million-dollar LiDAR setups.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0F2FE"/>
                </a:solidFill>
                <a:latin typeface="Calibri"/>
              </a:defRPr>
            </a:pPr>
            <a:r>
              <a:t>24CSE473 — NEURAL NETWORKS &amp; DEEP LEARNING  |  BOUNDARY SPECIFICATION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Formal Problem Statement &amp; Architectural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56032"/>
            <a:ext cx="2194560" cy="4114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Milestone 1: Project Proposal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Hardhik A (CH.SC.U4CSE23114)  •  Monitoring Lane Changes in Autonomous Vehicles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4739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24CSE473 Deep Learning  |  Milestone 1: Project Proposal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47395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192F"/>
                </a:solidFill>
                <a:latin typeface="Calibri"/>
              </a:defRPr>
            </a:pPr>
            <a:r>
              <a:t>Slide 3 of 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188720"/>
            <a:ext cx="10728655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1298448"/>
            <a:ext cx="54864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261872"/>
            <a:ext cx="10362895" cy="15910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Formal Problem Statement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Core Objective: </a:t>
            </a:r>
            <a:r>
              <a:rPr sz="950">
                <a:solidFill>
                  <a:srgbClr val="1E293B"/>
                </a:solidFill>
                <a:latin typeface="Calibri"/>
              </a:rPr>
              <a:t>Formulate, train, and validate a real-time, vision-first deep neural network monitoring framework capable of detecting surrounding vehicle lane-change intentions at least 1.8 seconds prior to lane boundary crossing.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Safety Envelope Constraint: </a:t>
            </a:r>
            <a:r>
              <a:rPr sz="950">
                <a:solidFill>
                  <a:srgbClr val="1E293B"/>
                </a:solidFill>
                <a:latin typeface="Calibri"/>
              </a:rPr>
              <a:t>Dynamically arbitrate between Lane Keeping Assist (LKAS), Adaptive Cruise Control (ACC), and Emergency Collision Abort (AEB) by computing real-time Time-to-Collision (TTC) and Time-to-Lane-Crossing (TLC).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Latency Mandate: </a:t>
            </a:r>
            <a:r>
              <a:rPr sz="950">
                <a:solidFill>
                  <a:srgbClr val="1E293B"/>
                </a:solidFill>
                <a:latin typeface="Calibri"/>
              </a:rPr>
              <a:t>Guarantee deterministic sub-25ms inference latency (&gt;40 FPS) on embedded edge compute (NVIDIA Jetson / Automotive SoC) under mapless operating constraints.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54680"/>
            <a:ext cx="521208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264408"/>
            <a:ext cx="54864" cy="2743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227832"/>
            <a:ext cx="4846320" cy="29169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System In-Scope Deliverables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Monocular &amp; Stereo Vision Ingestion: </a:t>
            </a:r>
            <a:r>
              <a:rPr sz="950">
                <a:solidFill>
                  <a:srgbClr val="1E293B"/>
                </a:solidFill>
                <a:latin typeface="Calibri"/>
              </a:rPr>
              <a:t>1080p forward dashcam/windshield video streams @ 30-60 FPS.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Spatio-Temporal Deep Learning: </a:t>
            </a:r>
            <a:r>
              <a:rPr sz="950">
                <a:solidFill>
                  <a:srgbClr val="1E293B"/>
                </a:solidFill>
                <a:latin typeface="Calibri"/>
              </a:rPr>
              <a:t>Spatial CNN feature extractor coupled to Bidirectional LSTM sequence modeling.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Intent Tri-State Classification: </a:t>
            </a:r>
            <a:r>
              <a:rPr sz="950">
                <a:solidFill>
                  <a:srgbClr val="1E293B"/>
                </a:solidFill>
                <a:latin typeface="Calibri"/>
              </a:rPr>
              <a:t>Continuous probability distribution: P(Keep Lane), P(Cut-in Left), P(Cut-in Right).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Kinematic Trajectory Validation: </a:t>
            </a:r>
            <a:r>
              <a:rPr sz="950">
                <a:solidFill>
                  <a:srgbClr val="1E293B"/>
                </a:solidFill>
                <a:latin typeface="Calibri"/>
              </a:rPr>
              <a:t>Enforcing physical safety barriers via dynamic Time-to-Collision (TTC) bounds.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Multi-Tier ADAS Escalation: </a:t>
            </a:r>
            <a:r>
              <a:rPr sz="950">
                <a:solidFill>
                  <a:srgbClr val="1E293B"/>
                </a:solidFill>
                <a:latin typeface="Calibri"/>
              </a:rPr>
              <a:t>Three-tier alerting (Advisory Info -&gt; Active Caution -&gt; Emergency Abort Braking).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Simulation &amp; Edge Deployment: </a:t>
            </a:r>
            <a:r>
              <a:rPr sz="950">
                <a:solidFill>
                  <a:srgbClr val="1E293B"/>
                </a:solidFill>
                <a:latin typeface="Calibri"/>
              </a:rPr>
              <a:t>Benchmarked on highD highway dataset and synthetic CARLA / SODA environments.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8095" y="3154680"/>
            <a:ext cx="521208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57823" y="3264408"/>
            <a:ext cx="54864" cy="2743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6695" y="3227832"/>
            <a:ext cx="4846320" cy="29169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Out-of-Scope &amp; Future Extensions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Off-Road Navigation: </a:t>
            </a:r>
            <a:r>
              <a:rPr sz="950">
                <a:solidFill>
                  <a:srgbClr val="1E293B"/>
                </a:solidFill>
                <a:latin typeface="Calibri"/>
              </a:rPr>
              <a:t>Not designed for dirt tracks, construction zones, or unpaved rural pathways lacking drivable surfaces.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Mechanical Actuator Fabrication: </a:t>
            </a:r>
            <a:r>
              <a:rPr sz="950">
                <a:solidFill>
                  <a:srgbClr val="1E293B"/>
                </a:solidFill>
                <a:latin typeface="Calibri"/>
              </a:rPr>
              <a:t>Software-level decision generation; excludes physical brake/steering actuator hardware machining.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Full 360° LiDAR Point Cloud Fusion: </a:t>
            </a:r>
            <a:r>
              <a:rPr sz="950">
                <a:solidFill>
                  <a:srgbClr val="1E293B"/>
                </a:solidFill>
                <a:latin typeface="Calibri"/>
              </a:rPr>
              <a:t>Pure camera-first vision architecture to ensure consumer vehicle commercial viability.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Cloud-Dependent HD Mapping: </a:t>
            </a:r>
            <a:r>
              <a:rPr sz="950">
                <a:solidFill>
                  <a:srgbClr val="1E293B"/>
                </a:solidFill>
                <a:latin typeface="Calibri"/>
              </a:rPr>
              <a:t>System operates strictly mapless using real-time sensory perception without live cloud telemetry.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Adverse Sensor Destruction: </a:t>
            </a:r>
            <a:r>
              <a:rPr sz="950">
                <a:solidFill>
                  <a:srgbClr val="1E293B"/>
                </a:solidFill>
                <a:latin typeface="Calibri"/>
              </a:rPr>
              <a:t>Physical lens mud splatters or complete hardware sensor failures are handled via fail-safe handoff.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0F2FE"/>
                </a:solidFill>
                <a:latin typeface="Calibri"/>
              </a:defRPr>
            </a:pPr>
            <a:r>
              <a:t>24CSE473 — NEURAL NETWORKS &amp; DEEP LEARNING  |  SYSTEM GOALS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Project Objectives &amp; Targeted ADAS Feature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56032"/>
            <a:ext cx="2194560" cy="4114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Milestone 1: Project Proposal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Hardhik A (CH.SC.U4CSE23114)  •  Monitoring Lane Changes in Autonomous Vehicles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4739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24CSE473 Deep Learning  |  Milestone 1: Project Proposal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47395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192F"/>
                </a:solidFill>
                <a:latin typeface="Calibri"/>
              </a:defRPr>
            </a:pPr>
            <a:r>
              <a:t>Slide 4 of 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1887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1298448"/>
            <a:ext cx="54864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261872"/>
            <a:ext cx="4846320" cy="22311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1. Proactive Intention Classification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Lead Time Horizon: </a:t>
            </a:r>
            <a:r>
              <a:rPr sz="950">
                <a:solidFill>
                  <a:srgbClr val="1E293B"/>
                </a:solidFill>
                <a:latin typeface="Calibri"/>
              </a:rPr>
              <a:t>Detect intended lane change &gt;= 1.8 seconds before the vehicle touches the lane delimiter marking.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Multi-Class Softmax Output: </a:t>
            </a:r>
            <a:r>
              <a:rPr sz="950">
                <a:solidFill>
                  <a:srgbClr val="1E293B"/>
                </a:solidFill>
                <a:latin typeface="Calibri"/>
              </a:rPr>
              <a:t>Real-time inference outputting P(Keep), P(Cut-in Left), and P(Cut-in Right).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Micro-Kinematic Sensitivity: </a:t>
            </a:r>
            <a:r>
              <a:rPr sz="950">
                <a:solidFill>
                  <a:srgbClr val="1E293B"/>
                </a:solidFill>
                <a:latin typeface="Calibri"/>
              </a:rPr>
              <a:t>Capture subtle yaw shifts and lateral acceleration (&gt;0.18 m/s²) before macro displacement occurs.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095" y="11887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57823" y="1298448"/>
            <a:ext cx="54864" cy="2743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6695" y="1261872"/>
            <a:ext cx="4846320" cy="22311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2. Spatio-Temporal Hybrid Modeling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Spatial Feature Representation: </a:t>
            </a:r>
            <a:r>
              <a:rPr sz="950">
                <a:solidFill>
                  <a:srgbClr val="1E293B"/>
                </a:solidFill>
                <a:latin typeface="Calibri"/>
              </a:rPr>
              <a:t>Extract high-dimensional spatial embeddings of surrounding vehicles using deep CNN backbones.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Temporal Recurrent Sequence Reasoning: </a:t>
            </a:r>
            <a:r>
              <a:rPr sz="950">
                <a:solidFill>
                  <a:srgbClr val="1E293B"/>
                </a:solidFill>
                <a:latin typeface="Calibri"/>
              </a:rPr>
              <a:t>Employ Bidirectional LSTM / GRU cells over rolling 30-frame temporal buffers (1.0 - 2.0s).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Attention Pooling: </a:t>
            </a:r>
            <a:r>
              <a:rPr sz="950">
                <a:solidFill>
                  <a:srgbClr val="1E293B"/>
                </a:solidFill>
                <a:latin typeface="Calibri"/>
              </a:rPr>
              <a:t>Dynamically weight critical transition frames over static cruising frames to reduce false alarms.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9476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" y="3904488"/>
            <a:ext cx="54864" cy="2743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67912"/>
            <a:ext cx="4846320" cy="22768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3. Physics-Informed Safety Layer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Deterministic Safety Bounds: </a:t>
            </a:r>
            <a:r>
              <a:rPr sz="950">
                <a:solidFill>
                  <a:srgbClr val="1E293B"/>
                </a:solidFill>
                <a:latin typeface="Calibri"/>
              </a:rPr>
              <a:t>Guard against black-box neural hallucination by verifying trajectories against physics equations.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Dynamic Time-to-Collision (TTC): </a:t>
            </a:r>
            <a:r>
              <a:rPr sz="950">
                <a:solidFill>
                  <a:srgbClr val="1E293B"/>
                </a:solidFill>
                <a:latin typeface="Calibri"/>
              </a:rPr>
              <a:t>Continuous calculation of TTC = Δx / Δv to detect imminent deceleration threats.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Lateral Trajectory Envelope: </a:t>
            </a:r>
            <a:r>
              <a:rPr sz="950">
                <a:solidFill>
                  <a:srgbClr val="1E293B"/>
                </a:solidFill>
                <a:latin typeface="Calibri"/>
              </a:rPr>
              <a:t>Model Time-to-Lane-Crossing (TLC) to distinguish intentional cut-ins from harmless vehicle drift.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8095" y="379476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57823" y="3904488"/>
            <a:ext cx="54864" cy="2743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6695" y="3867912"/>
            <a:ext cx="4846320" cy="22768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4. Targeted ADAS Ecosystem Integration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LKAS (Lane Keeping Assist): </a:t>
            </a:r>
            <a:r>
              <a:rPr sz="950">
                <a:solidFill>
                  <a:srgbClr val="1E293B"/>
                </a:solidFill>
                <a:latin typeface="Calibri"/>
              </a:rPr>
              <a:t>Suppress false lane departures when ego vehicle yields slightly to an aggressive cut-in.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ACC (Adaptive Cruise Control): </a:t>
            </a:r>
            <a:r>
              <a:rPr sz="950">
                <a:solidFill>
                  <a:srgbClr val="1E293B"/>
                </a:solidFill>
                <a:latin typeface="Calibri"/>
              </a:rPr>
              <a:t>Early smooth regenerative braking 1.5s prior to cut-in completion, avoiding emergency lockups.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AEB (Automatic Emergency Braking): </a:t>
            </a:r>
            <a:r>
              <a:rPr sz="950">
                <a:solidFill>
                  <a:srgbClr val="1E293B"/>
                </a:solidFill>
                <a:latin typeface="Calibri"/>
              </a:rPr>
              <a:t>Deterministic override triggering emergency deceleration if cut-in TTC collapses below 1.2s.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0F2FE"/>
                </a:solidFill>
                <a:latin typeface="Calibri"/>
              </a:defRPr>
            </a:pPr>
            <a:r>
              <a:t>24CSE473 — NEURAL NETWORKS &amp; DEEP LEARNING  |  METHODOLOGY OVERVIEW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High-Level End-to-End System Workflow (6-Step Pipeline)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56032"/>
            <a:ext cx="2194560" cy="4114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Milestone 1: Project Proposal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Hardhik A (CH.SC.U4CSE23114)  •  Monitoring Lane Changes in Autonomous Vehicles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4739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24CSE473 Deep Learning  |  Milestone 1: Project Proposal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47395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192F"/>
                </a:solidFill>
                <a:latin typeface="Calibri"/>
              </a:defRPr>
            </a:pPr>
            <a:r>
              <a:t>Slide 5 of 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188720"/>
            <a:ext cx="1673809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298448"/>
            <a:ext cx="320040" cy="32004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664208"/>
            <a:ext cx="1490929" cy="16459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defRPr sz="1100" b="1">
                <a:solidFill>
                  <a:srgbClr val="0A192F"/>
                </a:solidFill>
                <a:latin typeface="Calibri"/>
              </a:defRPr>
            </a:pPr>
            <a:r>
              <a:t>1. Vision Ingest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1080p RGB dashcam frame acquisition at 30-60 FPS.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42489" y="1188720"/>
            <a:ext cx="1673809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633929" y="1298448"/>
            <a:ext cx="320040" cy="32004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3929" y="1664208"/>
            <a:ext cx="1490929" cy="16459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defRPr sz="1100" b="1">
                <a:solidFill>
                  <a:srgbClr val="0A192F"/>
                </a:solidFill>
                <a:latin typeface="Calibri"/>
              </a:defRPr>
            </a:pPr>
            <a:r>
              <a:t>2. Spatial Detect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YOLOv8 vehicle bounding box + DeepSORT tracking &amp; lane segmentation.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53458" y="1188720"/>
            <a:ext cx="1673809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44898" y="1298448"/>
            <a:ext cx="320040" cy="32004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4898" y="1664208"/>
            <a:ext cx="1490929" cy="16459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defRPr sz="1100" b="1">
                <a:solidFill>
                  <a:srgbClr val="0A192F"/>
                </a:solidFill>
                <a:latin typeface="Calibri"/>
              </a:defRPr>
            </a:pPr>
            <a:r>
              <a:t>3. Sequence Buffer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Rolling FIFO tensor of kinematic states &amp; spatial tokens over 30 frames.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4427" y="1188720"/>
            <a:ext cx="1673809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55867" y="1298448"/>
            <a:ext cx="320040" cy="32004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5867" y="1664208"/>
            <a:ext cx="1490929" cy="16459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defRPr sz="1100" b="1">
                <a:solidFill>
                  <a:srgbClr val="0A192F"/>
                </a:solidFill>
                <a:latin typeface="Calibri"/>
              </a:defRPr>
            </a:pPr>
            <a:r>
              <a:t>4. Intent Classifier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CNN-LSTM inference generates intention probabilities P(Keep, Left, Right).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5396" y="1188720"/>
            <a:ext cx="1673809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66836" y="1298448"/>
            <a:ext cx="320040" cy="32004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6836" y="1664208"/>
            <a:ext cx="1490929" cy="16459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defRPr sz="1100" b="1">
                <a:solidFill>
                  <a:srgbClr val="0A192F"/>
                </a:solidFill>
                <a:latin typeface="Calibri"/>
              </a:defRPr>
            </a:pPr>
            <a:r>
              <a:t>5. Safety Envelope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Kinematic verification calculating TTC = Δx/Δv and lateral velocity vy.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6365" y="1188720"/>
            <a:ext cx="1673809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77805" y="1298448"/>
            <a:ext cx="320040" cy="32004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7805" y="1664208"/>
            <a:ext cx="1490929" cy="16459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defRPr sz="1100" b="1">
                <a:solidFill>
                  <a:srgbClr val="0A192F"/>
                </a:solidFill>
                <a:latin typeface="Calibri"/>
              </a:defRPr>
            </a:pPr>
            <a:r>
              <a:t>6. ADAS Arbitration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Tiered CAN-bus actuation: Advisory Info, Smooth ACC, or Active Emergency Brake.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657600"/>
            <a:ext cx="52120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41248" y="3767328"/>
            <a:ext cx="54864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3730752"/>
            <a:ext cx="4846320" cy="241401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Perception &amp; Sequence Pipeline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High-Throughput Vision Acquisition: </a:t>
            </a:r>
            <a:r>
              <a:rPr sz="950">
                <a:solidFill>
                  <a:srgbClr val="1E293B"/>
                </a:solidFill>
                <a:latin typeface="Calibri"/>
              </a:rPr>
              <a:t>Standard monocular dashcam stream processed via OpenCV / V4L2 pipeline.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Spatial Coordinate Normalization: </a:t>
            </a:r>
            <a:r>
              <a:rPr sz="950">
                <a:solidFill>
                  <a:srgbClr val="1E293B"/>
                </a:solidFill>
                <a:latin typeface="Calibri"/>
              </a:rPr>
              <a:t>Bounding box coordinates normalized to vehicle ground plane perspective.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Multi-Object Tracking: </a:t>
            </a:r>
            <a:r>
              <a:rPr sz="950">
                <a:solidFill>
                  <a:srgbClr val="1E293B"/>
                </a:solidFill>
                <a:latin typeface="Calibri"/>
              </a:rPr>
              <a:t>DeepSORT maintains stable track IDs across occlusions, preventing tracklet fragmentation.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Sliding-Window Feature Vector: </a:t>
            </a:r>
            <a:r>
              <a:rPr sz="950">
                <a:solidFill>
                  <a:srgbClr val="1E293B"/>
                </a:solidFill>
                <a:latin typeface="Calibri"/>
              </a:rPr>
              <a:t>Tracks relative distance (Δx), lateral offset (Δy), and optical flow motion vectors.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8095" y="3657600"/>
            <a:ext cx="52120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57823" y="3767328"/>
            <a:ext cx="54864" cy="2743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6695" y="3730752"/>
            <a:ext cx="4846320" cy="241401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Inference &amp; Control Arbitration Pipeline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Recurrent Sequence Classification: </a:t>
            </a:r>
            <a:r>
              <a:rPr sz="950">
                <a:solidFill>
                  <a:srgbClr val="1E293B"/>
                </a:solidFill>
                <a:latin typeface="Calibri"/>
              </a:rPr>
              <a:t>Bidirectional LSTM processes temporal history to detect intention transitions.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Dual-Threshold Safety Gate: </a:t>
            </a:r>
            <a:r>
              <a:rPr sz="950">
                <a:solidFill>
                  <a:srgbClr val="1E293B"/>
                </a:solidFill>
                <a:latin typeface="Calibri"/>
              </a:rPr>
              <a:t>Intention probability (&gt;0.75) must coincide with critical kinematic safety violation.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Deterministic Fail-Safe Fallback: </a:t>
            </a:r>
            <a:r>
              <a:rPr sz="950">
                <a:solidFill>
                  <a:srgbClr val="1E293B"/>
                </a:solidFill>
                <a:latin typeface="Calibri"/>
              </a:rPr>
              <a:t>If neural confidence drops (&lt;0.50), system defaults to conservative distance ACC.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Sub-Millisecond CAN Dispatch: </a:t>
            </a:r>
            <a:r>
              <a:rPr sz="950">
                <a:solidFill>
                  <a:srgbClr val="1E293B"/>
                </a:solidFill>
                <a:latin typeface="Calibri"/>
              </a:rPr>
              <a:t>Alert signals packaged into standardized ROS 2 / CAN-bus messages for instant actuation.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0F2FE"/>
                </a:solidFill>
                <a:latin typeface="Calibri"/>
              </a:defRPr>
            </a:pPr>
            <a:r>
              <a:t>24CSE473 — NEURAL NETWORKS &amp; DEEP LEARNING  |  TECHNICAL INFRASTRUCTURE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Sensor Baseline, Edge Middleware &amp; Mapless Operation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56032"/>
            <a:ext cx="2194560" cy="4114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Milestone 1: Project Proposal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Hardhik A (CH.SC.U4CSE23114)  •  Monitoring Lane Changes in Autonomous Vehicles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4739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24CSE473 Deep Learning  |  Milestone 1: Project Proposal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47395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192F"/>
                </a:solidFill>
                <a:latin typeface="Calibri"/>
              </a:defRPr>
            </a:pPr>
            <a:r>
              <a:t>Slide 6 of 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18872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1298448"/>
            <a:ext cx="54864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261872"/>
            <a:ext cx="3017520" cy="4882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Sensory Ingestion Tier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Camera Configuration: </a:t>
            </a:r>
            <a:r>
              <a:rPr sz="950">
                <a:solidFill>
                  <a:srgbClr val="1E293B"/>
                </a:solidFill>
                <a:latin typeface="Calibri"/>
              </a:rPr>
              <a:t>Monocular high-dynamic-range (HDR) automotive-grade CMOS camera mounted behind windshield.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Optical Specifications: </a:t>
            </a:r>
            <a:r>
              <a:rPr sz="950">
                <a:solidFill>
                  <a:srgbClr val="1E293B"/>
                </a:solidFill>
                <a:latin typeface="Calibri"/>
              </a:rPr>
              <a:t>1920x1080 resolution, 60 FPS, 90° horizontal field-of-view (FOV) covering 3 highway lanes.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Exposure Robustness: </a:t>
            </a:r>
            <a:r>
              <a:rPr sz="950">
                <a:solidFill>
                  <a:srgbClr val="1E293B"/>
                </a:solidFill>
                <a:latin typeface="Calibri"/>
              </a:rPr>
              <a:t>Hardware auto-exposure and tone mapping mitigating direct sunrise/sunset glare and tunnel transitions.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Low-Cost Advantage: </a:t>
            </a:r>
            <a:r>
              <a:rPr sz="950">
                <a:solidFill>
                  <a:srgbClr val="1E293B"/>
                </a:solidFill>
                <a:latin typeface="Calibri"/>
              </a:rPr>
              <a:t>Costs under $150 compared to multi-beam LiDAR arrays costing upwards of $10,000, ensuring commercial viability.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18872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98848" y="1298448"/>
            <a:ext cx="54864" cy="2743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1261872"/>
            <a:ext cx="3017520" cy="4882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Edge Compute &amp; Middleware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Hardware Target: </a:t>
            </a:r>
            <a:r>
              <a:rPr sz="950">
                <a:solidFill>
                  <a:srgbClr val="1E293B"/>
                </a:solidFill>
                <a:latin typeface="Calibri"/>
              </a:rPr>
              <a:t>NVIDIA Jetson Orin Nano / Xavier NX / Automotive Grade SoC (Snapdragon Ride / Mobileye EyeQ).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Inference Engine: </a:t>
            </a:r>
            <a:r>
              <a:rPr sz="950">
                <a:solidFill>
                  <a:srgbClr val="1E293B"/>
                </a:solidFill>
                <a:latin typeface="Calibri"/>
              </a:rPr>
              <a:t>ONNX Runtime / TensorRT FP16 quantization delivering sub-20ms latency and 50+ FPS execution.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Middleware Bus: </a:t>
            </a:r>
            <a:r>
              <a:rPr sz="950">
                <a:solidFill>
                  <a:srgbClr val="1E293B"/>
                </a:solidFill>
                <a:latin typeface="Calibri"/>
              </a:rPr>
              <a:t>ROS 2 Humble (Robot Operating System) with CycloneDDS for deterministic zero-copy intra-process transfer.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Thermal &amp; Power Budget: </a:t>
            </a:r>
            <a:r>
              <a:rPr sz="950">
                <a:solidFill>
                  <a:srgbClr val="1E293B"/>
                </a:solidFill>
                <a:latin typeface="Calibri"/>
              </a:rPr>
              <a:t>Designed to operate strictly within a 15W - 25W power envelope, preserving EV driving range.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18872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56448" y="1298448"/>
            <a:ext cx="54864" cy="2743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261872"/>
            <a:ext cx="3017520" cy="4882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Mapless Operational Paradigm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Zero Cloud Dependency: </a:t>
            </a:r>
            <a:r>
              <a:rPr sz="950">
                <a:solidFill>
                  <a:srgbClr val="1E293B"/>
                </a:solidFill>
                <a:latin typeface="Calibri"/>
              </a:rPr>
              <a:t>Operates completely offline without requiring cellular 5G coverage or live HD map downloads.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Resilient Road Parsing: </a:t>
            </a:r>
            <a:r>
              <a:rPr sz="950">
                <a:solidFill>
                  <a:srgbClr val="1E293B"/>
                </a:solidFill>
                <a:latin typeface="Calibri"/>
              </a:rPr>
              <a:t>Dynamically infers lane boundaries, virtual lane centers, and curb delimiters purely from optical features.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Unstructured Road Handling: </a:t>
            </a:r>
            <a:r>
              <a:rPr sz="950">
                <a:solidFill>
                  <a:srgbClr val="1E293B"/>
                </a:solidFill>
                <a:latin typeface="Calibri"/>
              </a:rPr>
              <a:t>Adapts seamlessly to faded lane markings, temporary construction zones, and rain-slicked asphalt.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Privacy Preserving: </a:t>
            </a:r>
            <a:r>
              <a:rPr sz="950">
                <a:solidFill>
                  <a:srgbClr val="1E293B"/>
                </a:solidFill>
                <a:latin typeface="Calibri"/>
              </a:rPr>
              <a:t>Processes video strictly on edge RAM without streaming footage to external third-party cloud servers.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0F2FE"/>
                </a:solidFill>
                <a:latin typeface="Calibri"/>
              </a:defRPr>
            </a:pPr>
            <a:r>
              <a:t>24CSE473 — NEURAL NETWORKS &amp; DEEP LEARNING  |  EXECUTION ROADMAP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Preliminary Feasibility, Challenges &amp; Deliverables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56032"/>
            <a:ext cx="2194560" cy="4114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Milestone 1: Project Proposal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Hardhik A (CH.SC.U4CSE23114)  •  Monitoring Lane Changes in Autonomous Vehicles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4739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24CSE473 Deep Learning  |  Milestone 1: Project Proposal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47395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192F"/>
                </a:solidFill>
                <a:latin typeface="Calibri"/>
              </a:defRPr>
            </a:pPr>
            <a:r>
              <a:t>Slide 7 of 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188720"/>
            <a:ext cx="52120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1298448"/>
            <a:ext cx="54864" cy="2743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261872"/>
            <a:ext cx="4846320" cy="232257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Technical Feasibility &amp; Dataset Grounding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highD Benchmark Dataset: </a:t>
            </a:r>
            <a:r>
              <a:rPr sz="950">
                <a:solidFill>
                  <a:srgbClr val="1E293B"/>
                </a:solidFill>
                <a:latin typeface="Calibri"/>
              </a:rPr>
              <a:t>Over 110,500 naturalistic German highway vehicles across 447,000 km, capturing 12,000+ lane change events.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CARLA Autonomous Simulator: </a:t>
            </a:r>
            <a:r>
              <a:rPr sz="950">
                <a:solidFill>
                  <a:srgbClr val="1E293B"/>
                </a:solidFill>
                <a:latin typeface="Calibri"/>
              </a:rPr>
              <a:t>Synthetic closed-loop highway simulator for stress-testing aggressive cut-ins and emergency evasions.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Empirical Precedents: </a:t>
            </a:r>
            <a:r>
              <a:rPr sz="950">
                <a:solidFill>
                  <a:srgbClr val="1E293B"/>
                </a:solidFill>
                <a:latin typeface="Calibri"/>
              </a:rPr>
              <a:t>Academic literature validates that CNN-LSTM models achieve &gt;92% accuracy on highway cut-in datasets.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GPU Compute Availability: </a:t>
            </a:r>
            <a:r>
              <a:rPr sz="950">
                <a:solidFill>
                  <a:srgbClr val="1E293B"/>
                </a:solidFill>
                <a:latin typeface="Calibri"/>
              </a:rPr>
              <a:t>PyTorch 2.x acceleration with CUDA 12 enables rapid prototype training and seamless ONNX export.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095" y="1188720"/>
            <a:ext cx="52120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57823" y="1298448"/>
            <a:ext cx="54864" cy="2743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6695" y="1261872"/>
            <a:ext cx="4846320" cy="232257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Identified Technical Challenges &amp; Mitigations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Adverse Weather / Rain Glare: </a:t>
            </a:r>
            <a:r>
              <a:rPr sz="950">
                <a:solidFill>
                  <a:srgbClr val="1E293B"/>
                </a:solidFill>
                <a:latin typeface="Calibri"/>
              </a:rPr>
              <a:t>Addressed via HSV color normalization, spatial attention, and synthetic noise data augmentation.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Severe Vehicle Occlusion: </a:t>
            </a:r>
            <a:r>
              <a:rPr sz="950">
                <a:solidFill>
                  <a:srgbClr val="1E293B"/>
                </a:solidFill>
                <a:latin typeface="Calibri"/>
              </a:rPr>
              <a:t>Mitigated through Kalman-assisted DeepSORT tracking preserving bounding box priors across brief occlusions.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Erratic False Swerves: </a:t>
            </a:r>
            <a:r>
              <a:rPr sz="950">
                <a:solidFill>
                  <a:srgbClr val="1E293B"/>
                </a:solidFill>
                <a:latin typeface="Calibri"/>
              </a:rPr>
              <a:t>Trajectory validation layer validates lateral velocity before triggering emergency brakes, clearing transient false alarms.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Edge Compute Bottlenecks: </a:t>
            </a:r>
            <a:r>
              <a:rPr sz="950">
                <a:solidFill>
                  <a:srgbClr val="1E293B"/>
                </a:solidFill>
                <a:latin typeface="Calibri"/>
              </a:rPr>
              <a:t>Solved via FP16 TensorRT model quantization and pruned MobileNet/ResNet feature backbones.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10728655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" y="3950208"/>
            <a:ext cx="54864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913632"/>
            <a:ext cx="10362895" cy="22311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Structured 3-Phase Milestone Roadmap &amp; Deliverables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Milestone 1 (Current): </a:t>
            </a:r>
            <a:r>
              <a:rPr sz="950">
                <a:solidFill>
                  <a:srgbClr val="1E293B"/>
                </a:solidFill>
                <a:latin typeface="Calibri"/>
              </a:rPr>
              <a:t>Project Proposal &amp; Feasibility Formulation — Scope definition, sensor baseline, and mathematical objective.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Milestone 2 (Literature Review &amp; Architecture): </a:t>
            </a:r>
            <a:r>
              <a:rPr sz="950">
                <a:solidFill>
                  <a:srgbClr val="1E293B"/>
                </a:solidFill>
                <a:latin typeface="Calibri"/>
              </a:rPr>
              <a:t>4 comprehensive tabular literature survey slides (16+ benchmark papers), research gap synthesis, and multi-tier neural network architecture.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Milestone 3 (Final Defense &amp; Implementation): </a:t>
            </a:r>
            <a:r>
              <a:rPr sz="950">
                <a:solidFill>
                  <a:srgbClr val="1E293B"/>
                </a:solidFill>
                <a:latin typeface="Calibri"/>
              </a:rPr>
              <a:t>21-slide definitive academic defense with tabular survey, confusion matrix evaluation, comparative benchmarks, and ISO 26262 compliance analysis.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Live Interactive Demonstration: </a:t>
            </a:r>
            <a:r>
              <a:rPr sz="950">
                <a:solidFill>
                  <a:srgbClr val="1E293B"/>
                </a:solidFill>
                <a:latin typeface="Calibri"/>
              </a:rPr>
              <a:t>Runnable Python OpenCV HUD system showcasing real-time multi-lane traffic, cut-in scenarios, probability meters, and ADAS brake interventions.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