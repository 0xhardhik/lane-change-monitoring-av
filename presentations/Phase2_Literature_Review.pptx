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114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5303520" cy="411480"/>
          </a:xfrm>
          <a:prstGeom prst="roundRect">
            <a:avLst/>
          </a:prstGeom>
          <a:solidFill>
            <a:srgbClr val="23355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0F2FE"/>
                </a:solidFill>
              </a:defRPr>
            </a:pPr>
            <a:r>
              <a:t>COURSE: 24CSE473 - NEURAL NETWORKS AND DEEP LEARNING | MILESTONE 2: LITERATURE REVIEW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Monitoring Lane Changes in Autonomous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Comprehensive Literature Survey, Critical Gap Synthesis &amp; Proposed Multi-Tier Deep Learning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9875520" cy="13716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Candidate: Hardhik A  |  Roll Number: CH.SC.U4CSE23114</a:t>
            </a:r>
          </a:p>
          <a:p>
            <a:pPr>
              <a:defRPr sz="1200">
                <a:solidFill>
                  <a:srgbClr val="E0F2FE"/>
                </a:solidFill>
                <a:latin typeface="Calibri"/>
              </a:defRPr>
            </a:pPr>
            <a:r>
              <a:t>Department of Computer Science &amp; Engineering, Amrita Vishwa Vidyapeetham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Evaluation Domain: Vision Pilot Hybrid End-to-End AI &amp; Deep Spatio-Temporal 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Amrita Vishwa Vidyapeetham — 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MILESTONE 2 LITERATURE SURVEY (1/4)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Review — Kinematic &amp; Rule-Based Trajectory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2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1280160"/>
                <a:gridCol w="1280160"/>
                <a:gridCol w="2011680"/>
                <a:gridCol w="1920240"/>
                <a:gridCol w="185897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Name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 / Future Scope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MOBIL: Minimizing Overall Braking Induced by Lane Changes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A. Kesting, M. Treiber, D. Helbing (2007)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Trans. Intelligent Transportation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Game-theoretic utility formulation balancing ego vehicle acceleration gain against induced deceleration imposed on following vehicles.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Demonstrates that cooperative and polite lane-change decisions prevent macro traffic shockwaves and stabilize highway flow.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Purely deterministic; cannot handle irrational human drivers, cutting-in without signal, or sensor noise.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Time-to-Collision (TTC) &amp; Safety Envelope Modeling in Highway Overtaking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K. Vogel (2003)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Transportation Research Part F: Traffic Psychology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Kinematic distance-over-relative-velocity ratio (TTC = Δx / Δv) used to establish empirical safety headway boundaries.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Identifies 1.5s to 2.0s as the physiological tipping point where emergency braking becomes inevitable during cut-ins.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Assumes constant velocity; fails in dynamic braking scenarios, curved trajectories, or sudden lateral drift.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Extended Kalman Filter for Vehicle State and Trajectory Estimation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P. A. Bageshwar, W. L. Garrard, R. Rajamani (2004)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Trans. Control Systems Technology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Recursive non-linear state estimation fusing radar range-rate with steering angle measurements under Gaussian noise.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Effectively tracks longitudinal position and lateral deviation with bounded covariance in lane-following scenarios.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Fails during rapid non-linear maneuvers (aggressive cut-ins) due to linearization errors and lack of semantic context.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Driver Maneuver Recognition &amp; Prediction Using Hidden Markov Models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N. Oliver, A. P. Pentland (2000)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Trans. Intelligent Transportation Systems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Discrete-state HMMs mapping sequential steering angle and pedal actuation features to discrete maneuver states.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Proves that continuous driving actions exhibit distinct pre-maneuver temporal transitions ~1.0 second prior to execution.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Relies on in-cabin driver sensors (infeasible for surrounding vehicles); cannot model surrounding traffic context.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MILESTONE 2 LITERATURE SURVEY (2/4)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Review — Spatial Perception &amp; Vision-Based Detectors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3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1280160"/>
                <a:gridCol w="1280160"/>
                <a:gridCol w="2011680"/>
                <a:gridCol w="1920240"/>
                <a:gridCol w="185897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Name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 / Future Scope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YOLOv4 / YOLOv8: Optimal Speed &amp; Accuracy of Object Detection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A. Bochkovskiy, C. Wang, H. Liao (2020)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IEEE/CVF CVPR 2020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Single-stage convolutional object detector utilizing CSPDarknet backbone, PANet neck, and anchor-free detection heads.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Achieves 65+ FPS on embedded GPUs with high mAP, enabling reliable bounding box localization for surrounding traffic.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Only localizes current static bounding boxes; lacks temporal dimension to infer whether vehicle will cut in or stay.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CNN for Traffic Lane Detection in Complex Scenarios (SCNN)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X. Pan, J. Shi, P. Luo, X. Wang, X. Tang (2018)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AAAI Conference on Human AI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Slices convolutional feature tensors along spatial rows/columns to pass contextual message information across spatial pixels.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Excels at inferring heavily occluded lane markings, worn road paint, and low-light highway lane boundaries.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computational complexity; message passing introduces substantial latency (~40ms), limiting real-time ADAS use.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Mask R-CNN for Instance-Level Road Scene Semantic Parsing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K. He, G. Gkioxari, P. Dollar, R. Girshick (2017)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Int. Conf. on Computer Vision (ICCV)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Two-stage instance segmentation outputting pixel-precise vehicle masks and road boundary delineations.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Accurate boundary extraction allows precise measurement of tire-to-lane line pixel distance and lateral creep.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Two-stage pipeline is computationally excessive for automotive SoCs; requires high-end desktop GPUs to reach 15 FPS.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Ultra Fast Structure-Aware Deep Lane Detection for ADAS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Z. Li, S. Xiang, X. Zheng et al. (2020)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European Conf. on Computer Vision (ECCV)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Formulates lane detection as row-based classification selection rather than dense pixel segmentation, reducing parameters.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Achieves extreme inference speeds exceeding 300 FPS on edge hardware while maintaining robust curve delineation.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Perceives static lane geometry only; does not track surrounding vehicle interaction or predict intent.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MILESTONE 2 LITERATURE SURVEY (3/4)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Review — Recurrent &amp; Temporal Deep Learning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4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1280160"/>
                <a:gridCol w="1280160"/>
                <a:gridCol w="2011680"/>
                <a:gridCol w="1920240"/>
                <a:gridCol w="185897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Name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 / Future Scope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Long Short-Term Memory Networks for Driver Intention Prediction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M. Khairdoost, S. Shirpour, M. Bauer (2020)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Access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Dual-layer LSTM processing sequential vehicle coordinates and yaw angle time series over a 2.0-second sliding history.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Demonstrates that temporal recurrent memory boosts cut-in prediction accuracy to 91.4% with 1.6s lead time.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Evaluated on clean naturalistic trajectory datasets (NGSIM); vulnerable to sensor noise and camera calibration drift.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Bidirectional LSTM with Attention for Surrounding Vehicle Trajectory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F. Altche, A. de La Fortelle (2017)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Intelligent Transportation Systems Conf.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Bidirectional temporal encoding with attention pooling to predict longitudinal and lateral coordinates over 1-5 seconds.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Captures subtle lateral acceleration inflection points and outperforms unidirectional LSTMs in lane-change detection.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Lacks an explicit kinematic safety boundary check; occasionally predicts physically impossible lateral acceleration.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GRU-Based Vehicle Maneuver Classification under High-Speed Traffic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Y. Xing, C. Lv, H. Wang, D. Cao (2019)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Trans. Intelligent Transportation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Gated Recurrent Units (GRU) trained on high-speed naturalistic driving datasets to classify Keep, Left, and Right maneuvers.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Achieves 25% faster inference than LSTM due to fewer gate parameters, maintaining 90.8% classification precision.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Only classifies intention once the vehicle has already initiated noticeable lateral translation (lead time &lt;1.2s).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Sequence-to-Sequence Trajectory Forecasting via Encoder-Decoder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S. H. Park, B. Kim, C. M. Kang et al. (2018)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Trans. Intelligent Vehicles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Encoder-decoder RNN architecture outputting multi-modal future trajectory distributions over 3-5 second horizons.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Effectively models non-linear maneuvers and provides probabilistic beam search for candidate trajectories.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Prone to error accumulation in autoregressive decoding; high compute requirements unsuited for sub-25ms ADAS.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MILESTONE 2 LITERATURE SURVEY (4/4)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Review — Spatio-Temporal Graph Networks &amp; Transformers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5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1280160"/>
                <a:gridCol w="1280160"/>
                <a:gridCol w="2011680"/>
                <a:gridCol w="1920240"/>
                <a:gridCol w="185897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Name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 / Future Scope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Spatio-Temporal Graph Convolutional Networks for Multi-Agent Interaction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J. Li, F. Dong, Y. Zhao, C. Shen (2021)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Trans. Pattern Analysis &amp; Machine Intell.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Constructs spatio-temporal graphs where nodes represent vehicles and edges represent dynamic Euclidean interaction forces.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Accurately models inter-vehicle social compliance, yielding superior multi-lane trajectory prediction in dense traffic.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Graph construction overhead scales quadratically O(N²) with traffic density; severe latency penalty on edge chips.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VectorNet: Encoding HD Maps and Agent Trajectories with Vectorized Subgraphs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J. Gao, C. Sun, H. Zhao, D. Anguelov (2020)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IEEE/CVF CVPR 2020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Hierarchical graph network representing road polylines and vehicle trajectories as vectorized subgraphs with self-attention.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Avoids lossy bird's-eye-view rasterization, achieving state-of-the-art accuracy on Argoverse trajectory benchmark.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Strictly requires high-definition (HD) vector map inputs; cannot operate in mapless consumer vehicle environments.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Trajectory Transformer: Autoregressive Spatial Trajectory Modeling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M. Janner, Q. Li, S. Levine (2021)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Advances in Neural Information Processing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Treats continuous trajectory prediction as discrete token sequence generation, utilizing GPT-style causal self-attention.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Enables long-horizon multi-modal trajectory synthesis and seamless integration with reinforcement learning rewards.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Inference latency is high (120ms+), rendering it impractical for real-time safety-critical automotive collision avoidance.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Scene Transformer: A Unified Multi-Agent Motion Prediction Architecture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J. Ngiam, B. Caine, V. Vasudevan et al. (2022)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Int. Conf. on Learning Representations (ICLR)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Unified attention across agents, time steps, and road features without hand-crafted heuristics or decoupled steps.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Demonstrates top-tier performance on Waymo Open Motion dataset with rich multi-agent interaction modeling.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Massive parameter footprint (50M+ weights); requires server-class NVIDIA A100 GPUs, impossible for edge ADAS.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FRONTIER PARADIGMS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Review — Recent State-of-the-Art Extensions (2024–2026)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6 of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Vision-Language-Action Models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DriveVLM &amp; OmniDrive (2024): </a:t>
            </a:r>
            <a:r>
              <a:rPr sz="950">
                <a:solidFill>
                  <a:srgbClr val="1E293B"/>
                </a:solidFill>
                <a:latin typeface="Calibri"/>
              </a:rPr>
              <a:t>Integrating multi-modal LLMs to provide zero-shot semantic understanding of driving scenes.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Scene Reasoning: </a:t>
            </a:r>
            <a:r>
              <a:rPr sz="950">
                <a:solidFill>
                  <a:srgbClr val="1E293B"/>
                </a:solidFill>
                <a:latin typeface="Calibri"/>
              </a:rPr>
              <a:t>Capable of answering high-level cognitive questions: 'Why is the black sedan drifting left?'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Critical Bottleneck: </a:t>
            </a:r>
            <a:r>
              <a:rPr sz="950">
                <a:solidFill>
                  <a:srgbClr val="1E293B"/>
                </a:solidFill>
                <a:latin typeface="Calibri"/>
              </a:rPr>
              <a:t>Autoregressive token decoding takes 250ms to 800ms per frame, making direct vehicle control dangerous.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Academic Consensus: </a:t>
            </a:r>
            <a:r>
              <a:rPr sz="950">
                <a:solidFill>
                  <a:srgbClr val="1E293B"/>
                </a:solidFill>
                <a:latin typeface="Calibri"/>
              </a:rPr>
              <a:t>VLM is valuable as an asynchronous reasoning layer, but high-speed collision avoidance requires dedicated CNN-LSTMs.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Unified Hybrid End-to-End AI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UniAD (CVPR 2023 Best Paper) &amp; VAD (ICCV 2023): </a:t>
            </a:r>
            <a:r>
              <a:rPr sz="950">
                <a:solidFill>
                  <a:srgbClr val="1E293B"/>
                </a:solidFill>
                <a:latin typeface="Calibri"/>
              </a:rPr>
              <a:t>Shift toward end-to-end differentiable perception-to-planning architectures.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Token-Based Interfacing: </a:t>
            </a:r>
            <a:r>
              <a:rPr sz="950">
                <a:solidFill>
                  <a:srgbClr val="1E293B"/>
                </a:solidFill>
                <a:latin typeface="Calibri"/>
              </a:rPr>
              <a:t>Bypasses explicit noisy object bounding boxes by passing dense latent query tokens between neural modules.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Vision Pilot Paradigm: </a:t>
            </a:r>
            <a:r>
              <a:rPr sz="950">
                <a:solidFill>
                  <a:srgbClr val="1E293B"/>
                </a:solidFill>
                <a:latin typeface="Calibri"/>
              </a:rPr>
              <a:t>Blends end-to-end representation learning with modular safety trajectory checkpoints.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Relevance to this Project: </a:t>
            </a:r>
            <a:r>
              <a:rPr sz="950">
                <a:solidFill>
                  <a:srgbClr val="1E293B"/>
                </a:solidFill>
                <a:latin typeface="Calibri"/>
              </a:rPr>
              <a:t>Inspires our proposed Hybrid Architecture combining end-to-end vision feature extraction with explicit kinematic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Modern Benchmarks &amp; Safety Directives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highD &amp; INTERACTION Datasets: </a:t>
            </a:r>
            <a:r>
              <a:rPr sz="950">
                <a:solidFill>
                  <a:srgbClr val="1E293B"/>
                </a:solidFill>
                <a:latin typeface="Calibri"/>
              </a:rPr>
              <a:t>Modern drone-captured naturalistic vehicle trajectory datasets capturing 100k+ real highway interactions.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CARLA 0.9.15 Closed-Loop Testing: </a:t>
            </a:r>
            <a:r>
              <a:rPr sz="950">
                <a:solidFill>
                  <a:srgbClr val="1E293B"/>
                </a:solidFill>
                <a:latin typeface="Calibri"/>
              </a:rPr>
              <a:t>Standardized virtual benchmark evaluating reactive safety under severe edge-case swerves.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Euro NCAP 2026 &amp; MoRTH Directives: </a:t>
            </a:r>
            <a:r>
              <a:rPr sz="950">
                <a:solidFill>
                  <a:srgbClr val="1E293B"/>
                </a:solidFill>
                <a:latin typeface="Calibri"/>
              </a:rPr>
              <a:t>Strict mandates requiring proactive Cut-In Collision Avoidance with &gt;=1.5s warning lead time.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Conclusion of Review: </a:t>
            </a:r>
            <a:r>
              <a:rPr sz="950">
                <a:solidFill>
                  <a:srgbClr val="1E293B"/>
                </a:solidFill>
                <a:latin typeface="Calibri"/>
              </a:rPr>
              <a:t>Pure perception is insufficient; pure black-box transformers are too slow; a hybrid CNN-LSTM with safety verification is the optimal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GAP ANALYSIS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Synthesis of Critical Research Gaps in Contemporary 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7 of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Gap 1: Perception-Only Blindness (Lack of Temporal Lead Time)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Identified Deficiency: </a:t>
            </a:r>
            <a:r>
              <a:rPr sz="950">
                <a:solidFill>
                  <a:srgbClr val="1E293B"/>
                </a:solidFill>
                <a:latin typeface="Calibri"/>
              </a:rPr>
              <a:t>Most production ADAS (e.g., standard Mobileye/Tesla vision) relies on instantaneous object detection.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Critical Failure: </a:t>
            </a:r>
            <a:r>
              <a:rPr sz="950">
                <a:solidFill>
                  <a:srgbClr val="1E293B"/>
                </a:solidFill>
                <a:latin typeface="Calibri"/>
              </a:rPr>
              <a:t>Bounding box detectors only report that a vehicle has entered a lane *after* tires cross the line.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Consequence: </a:t>
            </a:r>
            <a:r>
              <a:rPr sz="950">
                <a:solidFill>
                  <a:srgbClr val="1E293B"/>
                </a:solidFill>
                <a:latin typeface="Calibri"/>
              </a:rPr>
              <a:t>Gives the ego vehicle less than 0.6 seconds of reaction time, leading to abrupt, dangerous emergency braking.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Our Target: </a:t>
            </a:r>
            <a:r>
              <a:rPr sz="950">
                <a:solidFill>
                  <a:srgbClr val="1E293B"/>
                </a:solidFill>
                <a:latin typeface="Calibri"/>
              </a:rPr>
              <a:t>Achieve proactive intent classification with &gt;=1.8 seconds of advance warning lead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Gap 2: Excessive Compute Latency in Transformers / GNNs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Identified Deficiency: </a:t>
            </a:r>
            <a:r>
              <a:rPr sz="950">
                <a:solidFill>
                  <a:srgbClr val="1E293B"/>
                </a:solidFill>
                <a:latin typeface="Calibri"/>
              </a:rPr>
              <a:t>State-of-the-art academic models (Scene Transformer, VectorNet) rely on heavy graph attention.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Critical Failure: </a:t>
            </a:r>
            <a:r>
              <a:rPr sz="950">
                <a:solidFill>
                  <a:srgbClr val="1E293B"/>
                </a:solidFill>
                <a:latin typeface="Calibri"/>
              </a:rPr>
              <a:t>Computational latency exceeds 100ms - 150ms per frame, requiring 300W server-grade GPUs.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Consequence: </a:t>
            </a:r>
            <a:r>
              <a:rPr sz="950">
                <a:solidFill>
                  <a:srgbClr val="1E293B"/>
                </a:solidFill>
                <a:latin typeface="Calibri"/>
              </a:rPr>
              <a:t>Infeasible for production automotive ECUs (15W - 25W Jetson / SoC), causing delayed safety triggers.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Our Target: </a:t>
            </a:r>
            <a:r>
              <a:rPr sz="950">
                <a:solidFill>
                  <a:srgbClr val="1E293B"/>
                </a:solidFill>
                <a:latin typeface="Calibri"/>
              </a:rPr>
              <a:t>Lightweight CNN-BiLSTM architecture operating deterministically at &lt;20ms latency (&gt;50 FPS).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0448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Gap 3: Pure Black-Box Hallucination &amp; Lack of Kinematic Bounds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Identified Deficiency: </a:t>
            </a:r>
            <a:r>
              <a:rPr sz="950">
                <a:solidFill>
                  <a:srgbClr val="1E293B"/>
                </a:solidFill>
                <a:latin typeface="Calibri"/>
              </a:rPr>
              <a:t>Deep learning models are trained purely on loss minimization without physical constraint enforcement.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Critical Failure: </a:t>
            </a:r>
            <a:r>
              <a:rPr sz="950">
                <a:solidFill>
                  <a:srgbClr val="1E293B"/>
                </a:solidFill>
                <a:latin typeface="Calibri"/>
              </a:rPr>
              <a:t>Under novel traffic patterns, models output erratic trajectory forecasts that violate vehicle physics.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Consequence: </a:t>
            </a:r>
            <a:r>
              <a:rPr sz="950">
                <a:solidFill>
                  <a:srgbClr val="1E293B"/>
                </a:solidFill>
                <a:latin typeface="Calibri"/>
              </a:rPr>
              <a:t>Causes phantom braking on harmless drift or misses aggressive cut-ins when confidence fluctuates.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Our Target: </a:t>
            </a:r>
            <a:r>
              <a:rPr sz="950">
                <a:solidFill>
                  <a:srgbClr val="1E293B"/>
                </a:solidFill>
                <a:latin typeface="Calibri"/>
              </a:rPr>
              <a:t>Dedicated Physics-Informed Trajectory Validation Layer computing dynamic Time-to-Collision (TTC).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7823" y="390448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695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Gap 4: Fragility under Unstructured &amp; Weather-Degraded Roads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Identified Deficiency: </a:t>
            </a:r>
            <a:r>
              <a:rPr sz="950">
                <a:solidFill>
                  <a:srgbClr val="1E293B"/>
                </a:solidFill>
                <a:latin typeface="Calibri"/>
              </a:rPr>
              <a:t>Existing systems assume clear, crisp lane delimiters and standardized lane discipline.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Critical Failure: </a:t>
            </a:r>
            <a:r>
              <a:rPr sz="950">
                <a:solidFill>
                  <a:srgbClr val="1E293B"/>
                </a:solidFill>
                <a:latin typeface="Calibri"/>
              </a:rPr>
              <a:t>Performance collapses in developing nations (India) with faded paint, night glare, and un-signaled swerves.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Consequence: </a:t>
            </a:r>
            <a:r>
              <a:rPr sz="950">
                <a:solidFill>
                  <a:srgbClr val="1E293B"/>
                </a:solidFill>
                <a:latin typeface="Calibri"/>
              </a:rPr>
              <a:t>System disengages or fails precisely when driver assistance is most urgently needed.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Our Target: </a:t>
            </a:r>
            <a:r>
              <a:rPr sz="950">
                <a:solidFill>
                  <a:srgbClr val="1E293B"/>
                </a:solidFill>
                <a:latin typeface="Calibri"/>
              </a:rPr>
              <a:t>Vision Pilot mapless architecture utilizing multi-cue optical flow, relative motion, and robust spatial feature aggregation.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SYSTEM DESIGN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Multi-Tier Deep Learning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8 of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Tier 1: Sensory Ingest &amp; Preprocessing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Camera Feed: </a:t>
            </a:r>
            <a:r>
              <a:rPr sz="950">
                <a:solidFill>
                  <a:srgbClr val="1E293B"/>
                </a:solidFill>
                <a:latin typeface="Calibri"/>
              </a:rPr>
              <a:t>1080p forward monocular RGB @ 60 FPS.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Frame Differencing: </a:t>
            </a:r>
            <a:r>
              <a:rPr sz="950">
                <a:solidFill>
                  <a:srgbClr val="1E293B"/>
                </a:solidFill>
                <a:latin typeface="Calibri"/>
              </a:rPr>
              <a:t>Motion vector optical flow estimation.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Object Detection: </a:t>
            </a:r>
            <a:r>
              <a:rPr sz="950">
                <a:solidFill>
                  <a:srgbClr val="1E293B"/>
                </a:solidFill>
                <a:latin typeface="Calibri"/>
              </a:rPr>
              <a:t>YOLOv8-Nano vehicle detection bounding boxes.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Lane Delineation: </a:t>
            </a:r>
            <a:r>
              <a:rPr sz="950">
                <a:solidFill>
                  <a:srgbClr val="1E293B"/>
                </a:solidFill>
                <a:latin typeface="Calibri"/>
              </a:rPr>
              <a:t>Ultra-fast row classification lane marking anchor extraction.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Coordinate Projection: </a:t>
            </a:r>
            <a:r>
              <a:rPr sz="950">
                <a:solidFill>
                  <a:srgbClr val="1E293B"/>
                </a:solidFill>
                <a:latin typeface="Calibri"/>
              </a:rPr>
              <a:t>Ground-plane inverse perspective mapping (IPM).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Tier 2: Spatial Feature Extraction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Backbone: </a:t>
            </a:r>
            <a:r>
              <a:rPr sz="950">
                <a:solidFill>
                  <a:srgbClr val="1E293B"/>
                </a:solidFill>
                <a:latin typeface="Calibri"/>
              </a:rPr>
              <a:t>MobileNetV3 / ResNet-18 spatial feature backbone.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Surrounding Vehicle Crop: </a:t>
            </a:r>
            <a:r>
              <a:rPr sz="950">
                <a:solidFill>
                  <a:srgbClr val="1E293B"/>
                </a:solidFill>
                <a:latin typeface="Calibri"/>
              </a:rPr>
              <a:t>Normalized 64x64 pixel dynamic bounding box ROIs.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Spatial Embedding: </a:t>
            </a:r>
            <a:r>
              <a:rPr sz="950">
                <a:solidFill>
                  <a:srgbClr val="1E293B"/>
                </a:solidFill>
                <a:latin typeface="Calibri"/>
              </a:rPr>
              <a:t>Extracts 128-dimensional latent spatial descriptor.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Optical Micro-Motion: </a:t>
            </a:r>
            <a:r>
              <a:rPr sz="950">
                <a:solidFill>
                  <a:srgbClr val="1E293B"/>
                </a:solidFill>
                <a:latin typeface="Calibri"/>
              </a:rPr>
              <a:t>Captures front wheel angle, tire contact patch, and yaw drift.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Context Fusion: </a:t>
            </a:r>
            <a:r>
              <a:rPr sz="950">
                <a:solidFill>
                  <a:srgbClr val="1E293B"/>
                </a:solidFill>
                <a:latin typeface="Calibri"/>
              </a:rPr>
              <a:t>Concatenates relative distance Δx and lateral offset Δy.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Tier 3: Temporal Sequence Reasoning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Rolling FIFO Buffer: </a:t>
            </a:r>
            <a:r>
              <a:rPr sz="950">
                <a:solidFill>
                  <a:srgbClr val="1E293B"/>
                </a:solidFill>
                <a:latin typeface="Calibri"/>
              </a:rPr>
              <a:t>30 consecutive frame temporal window (1.0s history).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Recurrent Network: </a:t>
            </a:r>
            <a:r>
              <a:rPr sz="950">
                <a:solidFill>
                  <a:srgbClr val="1E293B"/>
                </a:solidFill>
                <a:latin typeface="Calibri"/>
              </a:rPr>
              <a:t>2-layer Bidirectional LSTM (hidden size 128).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Attention Pooling: </a:t>
            </a:r>
            <a:r>
              <a:rPr sz="950">
                <a:solidFill>
                  <a:srgbClr val="1E293B"/>
                </a:solidFill>
                <a:latin typeface="Calibri"/>
              </a:rPr>
              <a:t>Dynamically weights transition inflection points.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Intention Head: </a:t>
            </a:r>
            <a:r>
              <a:rPr sz="950">
                <a:solidFill>
                  <a:srgbClr val="1E293B"/>
                </a:solidFill>
                <a:latin typeface="Calibri"/>
              </a:rPr>
              <a:t>Fully connected layer with Softmax activation.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Tri-State Probabilities: </a:t>
            </a:r>
            <a:r>
              <a:rPr sz="950">
                <a:solidFill>
                  <a:srgbClr val="1E293B"/>
                </a:solidFill>
                <a:latin typeface="Calibri"/>
              </a:rPr>
              <a:t>P(Keep Lane), P(Cut-in Left), P(Cut-in Right).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15984" y="129844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Tier 4: Safety &amp; ADAS Arbitration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Physics Envelope: </a:t>
            </a:r>
            <a:r>
              <a:rPr sz="950">
                <a:solidFill>
                  <a:srgbClr val="1E293B"/>
                </a:solidFill>
                <a:latin typeface="Calibri"/>
              </a:rPr>
              <a:t>Real-time Time-to-Collision (TTC = Δx / Δv) calculation.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Time-to-Lane-Crossing: </a:t>
            </a:r>
            <a:r>
              <a:rPr sz="950">
                <a:solidFill>
                  <a:srgbClr val="1E293B"/>
                </a:solidFill>
                <a:latin typeface="Calibri"/>
              </a:rPr>
              <a:t>TLC = d_boundary / |vy| verification.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Dual-Gated Trigger: </a:t>
            </a:r>
            <a:r>
              <a:rPr sz="950">
                <a:solidFill>
                  <a:srgbClr val="1E293B"/>
                </a:solidFill>
                <a:latin typeface="Calibri"/>
              </a:rPr>
              <a:t>Intention prob &gt; 0.75 AND TTC &lt; 2.0s.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Tiered Escalation: </a:t>
            </a:r>
            <a:r>
              <a:rPr sz="950">
                <a:solidFill>
                  <a:srgbClr val="1E293B"/>
                </a:solidFill>
                <a:latin typeface="Calibri"/>
              </a:rPr>
              <a:t>Level 1 Advisory -&gt; Level 2 ACC Regen -&gt; Level 3 Emergency AEB.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CAN Dispatch: </a:t>
            </a:r>
            <a:r>
              <a:rPr sz="950">
                <a:solidFill>
                  <a:srgbClr val="1E293B"/>
                </a:solidFill>
                <a:latin typeface="Calibri"/>
              </a:rPr>
              <a:t>Zero-copy ROS 2 DDS message bus broadcast.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OPERATIONAL LIFECYCLE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End-to-End Detection Workflow &amp; Evaluation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2: Literature Review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2: Literature Review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9 of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146735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1. Ingest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1080p forward camera acquisition @ 60 FPS.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53150" y="1188720"/>
            <a:ext cx="146735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44590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4590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2. Pre-process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IPM ground projection &amp; frame normalization.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7661" y="1188720"/>
            <a:ext cx="146735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9101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101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3. Detect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Vehicle bounding boxes &amp; lane delimiters.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2172" y="1188720"/>
            <a:ext cx="146735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53612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3612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4. Sequence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30-frame rolling temporal feature buffer.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6682" y="1188720"/>
            <a:ext cx="146735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58122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8122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5. Classify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CNN-LSTM intent probability softmax.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1193" y="1188720"/>
            <a:ext cx="146735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62633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2633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6. Validate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Physics-informed TTC and TLC envelope gate.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75704" y="1188720"/>
            <a:ext cx="146735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67144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7144" y="1664208"/>
            <a:ext cx="1284470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7. Arbitrate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Tiered ADAS trigger: Advisory, ACC, or AEB.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576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76732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730752"/>
            <a:ext cx="310896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Target Critical Highway Events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Aggressive Cut-In: </a:t>
            </a:r>
            <a:r>
              <a:rPr sz="950">
                <a:solidFill>
                  <a:srgbClr val="1E293B"/>
                </a:solidFill>
                <a:latin typeface="Calibri"/>
              </a:rPr>
              <a:t>Vehicle swerves into ego path with TTC &lt; 1.8s.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Gradual Drifting: </a:t>
            </a:r>
            <a:r>
              <a:rPr sz="950">
                <a:solidFill>
                  <a:srgbClr val="1E293B"/>
                </a:solidFill>
                <a:latin typeface="Calibri"/>
              </a:rPr>
              <a:t>Fatigued or distracted driver slowly drifting across line.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False Swerve / Abort: </a:t>
            </a:r>
            <a:r>
              <a:rPr sz="950">
                <a:solidFill>
                  <a:srgbClr val="1E293B"/>
                </a:solidFill>
                <a:latin typeface="Calibri"/>
              </a:rPr>
              <a:t>Vehicle veers toward line then recovers without crossing.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Multi-Vehicle Weaving: </a:t>
            </a:r>
            <a:r>
              <a:rPr sz="950">
                <a:solidFill>
                  <a:srgbClr val="1E293B"/>
                </a:solidFill>
                <a:latin typeface="Calibri"/>
              </a:rPr>
              <a:t>Coordinated overtaking across multiple highway lanes.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6576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07408" y="376732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730752"/>
            <a:ext cx="310896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ADAS Actuation &amp; Safety Response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1 (Advisory): </a:t>
            </a:r>
            <a:r>
              <a:rPr sz="950">
                <a:solidFill>
                  <a:srgbClr val="1E293B"/>
                </a:solidFill>
                <a:latin typeface="Calibri"/>
              </a:rPr>
              <a:t>Visual HUD icon + gentle auditory chime (lead time &gt;2.0s).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2 (Caution): </a:t>
            </a:r>
            <a:r>
              <a:rPr sz="950">
                <a:solidFill>
                  <a:srgbClr val="1E293B"/>
                </a:solidFill>
                <a:latin typeface="Calibri"/>
              </a:rPr>
              <a:t>ACC regenerative throttle rollback to re-establish headway buffer.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3 (Emergency): </a:t>
            </a:r>
            <a:r>
              <a:rPr sz="950">
                <a:solidFill>
                  <a:srgbClr val="1E293B"/>
                </a:solidFill>
                <a:latin typeface="Calibri"/>
              </a:rPr>
              <a:t>Deterministic AEB hydraulic braking deceleration (TTC &lt;1.2s).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Explainable Telemetry: </a:t>
            </a:r>
            <a:r>
              <a:rPr sz="950">
                <a:solidFill>
                  <a:srgbClr val="1E293B"/>
                </a:solidFill>
                <a:latin typeface="Calibri"/>
              </a:rPr>
              <a:t>HUD indicates exact reason (e.g. Cut-in Left, TTC=1.4s).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657600"/>
            <a:ext cx="3596335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56448" y="376732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730752"/>
            <a:ext cx="3230575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Proposed Quantitative Evaluation Metrics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Prediction Accuracy: </a:t>
            </a:r>
            <a:r>
              <a:rPr sz="950">
                <a:solidFill>
                  <a:srgbClr val="1E293B"/>
                </a:solidFill>
                <a:latin typeface="Calibri"/>
              </a:rPr>
              <a:t>Target &gt;=93.0% across all naturalistic test sets.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Intention Lead Time: </a:t>
            </a:r>
            <a:r>
              <a:rPr sz="950">
                <a:solidFill>
                  <a:srgbClr val="1E293B"/>
                </a:solidFill>
                <a:latin typeface="Calibri"/>
              </a:rPr>
              <a:t>Mean detection lead time &gt;=1.8 seconds prior to crossing.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False Positive Rate: </a:t>
            </a:r>
            <a:r>
              <a:rPr sz="950">
                <a:solidFill>
                  <a:srgbClr val="1E293B"/>
                </a:solidFill>
                <a:latin typeface="Calibri"/>
              </a:rPr>
              <a:t>Under 4.5% to eliminate nuisance phantom braking.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Edge Throughput: </a:t>
            </a:r>
            <a:r>
              <a:rPr sz="950">
                <a:solidFill>
                  <a:srgbClr val="1E293B"/>
                </a:solidFill>
                <a:latin typeface="Calibri"/>
              </a:rPr>
              <a:t>Deterministic execution latency &lt;20ms (&gt;50 FPS on Jetson).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